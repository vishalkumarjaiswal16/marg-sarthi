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Garamond Bold" panose="02020804030307010803" pitchFamily="18" charset="0"/>
      <p:regular r:id="rId13"/>
      <p:bold r:id="rId14"/>
    </p:embeddedFont>
    <p:embeddedFont>
      <p:font typeface="Roboto Slab" pitchFamily="2" charset="0"/>
      <p:regular r:id="rId15"/>
    </p:embeddedFont>
    <p:embeddedFont>
      <p:font typeface="Roboto Slab Bold" panose="020B0604020202020204" charset="0"/>
      <p:regular r:id="rId16"/>
    </p:embeddedFont>
    <p:embeddedFont>
      <p:font typeface="Times New Roman MT" panose="020B0604020202020204" charset="0"/>
      <p:regular r:id="rId17"/>
    </p:embeddedFont>
    <p:embeddedFont>
      <p:font typeface="Times New Roman M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300" y="-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svg"/><Relationship Id="rId26" Type="http://schemas.openxmlformats.org/officeDocument/2006/relationships/image" Target="../media/image30.svg"/><Relationship Id="rId39" Type="http://schemas.openxmlformats.org/officeDocument/2006/relationships/image" Target="../media/image43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svg"/><Relationship Id="rId20" Type="http://schemas.openxmlformats.org/officeDocument/2006/relationships/image" Target="../media/image24.svg"/><Relationship Id="rId29" Type="http://schemas.openxmlformats.org/officeDocument/2006/relationships/image" Target="../media/image33.png"/><Relationship Id="rId41" Type="http://schemas.openxmlformats.org/officeDocument/2006/relationships/image" Target="../media/image4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sv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40" Type="http://schemas.openxmlformats.org/officeDocument/2006/relationships/image" Target="../media/image44.png"/><Relationship Id="rId5" Type="http://schemas.openxmlformats.org/officeDocument/2006/relationships/image" Target="../media/image9.sv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svg"/><Relationship Id="rId36" Type="http://schemas.openxmlformats.org/officeDocument/2006/relationships/image" Target="../media/image40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sv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svg"/><Relationship Id="rId38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goodvisionlive.com/6-smart-cities-that-get-traffic-control-right" TargetMode="External"/><Relationship Id="rId13" Type="http://schemas.openxmlformats.org/officeDocument/2006/relationships/hyperlink" Target="https://pure.rug.nl/ws/portalfiles/portal/50468219/1_s2.0_S0968090X17302681_main.pdf" TargetMode="External"/><Relationship Id="rId18" Type="http://schemas.openxmlformats.org/officeDocument/2006/relationships/hyperlink" Target="https://drive.google.com/drive/folders/1CPMhk5GDlRxFjV0bizzQBii81tHvX7CX?usp=sharing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51.png"/><Relationship Id="rId12" Type="http://schemas.openxmlformats.org/officeDocument/2006/relationships/hyperlink" Target="https://crowplatform.com/wp-content/uploads/2024/04/D742_CROW_Document-iTLC-in-Sump_web-gecomprimeerd_1.pdf" TargetMode="External"/><Relationship Id="rId17" Type="http://schemas.openxmlformats.org/officeDocument/2006/relationships/hyperlink" Target="https://www.downtoearth.org.in/air/how-india-moves-planned-bhubaneswaris-growing-in-an-unplanned-fashion-but-there-is-room-for-improvement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www.newindianexpress.com/cities/delhi/2024/Nov/18/bumper-to-bumper-in-delhi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eg"/><Relationship Id="rId11" Type="http://schemas.openxmlformats.org/officeDocument/2006/relationships/hyperlink" Target="https://pmc.ncbi.nlm.nih.gov/articles/PMC8348605/" TargetMode="External"/><Relationship Id="rId5" Type="http://schemas.openxmlformats.org/officeDocument/2006/relationships/image" Target="../media/image49.png"/><Relationship Id="rId15" Type="http://schemas.openxmlformats.org/officeDocument/2006/relationships/hyperlink" Target="https://www.sciencedirect.com/science/article/pii/S2772586325000048" TargetMode="External"/><Relationship Id="rId10" Type="http://schemas.openxmlformats.org/officeDocument/2006/relationships/hyperlink" Target="https://timesofindia.indiatimes.com/city/hyderabad/no-end-in-sight-to-traffic-chaos-as-hyderabad-vehicle-count-nears-90-lakh/articleshow/123606999.cms" TargetMode="External"/><Relationship Id="rId4" Type="http://schemas.openxmlformats.org/officeDocument/2006/relationships/image" Target="../media/image48.jpeg"/><Relationship Id="rId9" Type="http://schemas.openxmlformats.org/officeDocument/2006/relationships/hyperlink" Target="https://www.weforum.org/stories/2014/07/seven-ways-cities-around-world-tackling-traffic/" TargetMode="External"/><Relationship Id="rId14" Type="http://schemas.openxmlformats.org/officeDocument/2006/relationships/hyperlink" Target="https://bangaloremirror.indiatimes.com/bangalore/civic/stuck-in-the-traffic-heres-why/articleshow/117377844.cm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50184" y="851596"/>
            <a:ext cx="6957907" cy="7732451"/>
            <a:chOff x="0" y="0"/>
            <a:chExt cx="9277210" cy="10309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77210" cy="10309934"/>
            </a:xfrm>
            <a:custGeom>
              <a:avLst/>
              <a:gdLst/>
              <a:ahLst/>
              <a:cxnLst/>
              <a:rect l="l" t="t" r="r" b="b"/>
              <a:pathLst>
                <a:path w="9277210" h="10309934">
                  <a:moveTo>
                    <a:pt x="0" y="0"/>
                  </a:moveTo>
                  <a:lnTo>
                    <a:pt x="9277210" y="0"/>
                  </a:lnTo>
                  <a:lnTo>
                    <a:pt x="9277210" y="10309934"/>
                  </a:lnTo>
                  <a:lnTo>
                    <a:pt x="0" y="1030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2684010" y="2060162"/>
              <a:ext cx="6407018" cy="6852474"/>
              <a:chOff x="0" y="0"/>
              <a:chExt cx="6407018" cy="68524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407023" cy="6852412"/>
              </a:xfrm>
              <a:custGeom>
                <a:avLst/>
                <a:gdLst/>
                <a:ahLst/>
                <a:cxnLst/>
                <a:rect l="l" t="t" r="r" b="b"/>
                <a:pathLst>
                  <a:path w="6407023" h="6852412">
                    <a:moveTo>
                      <a:pt x="0" y="0"/>
                    </a:moveTo>
                    <a:lnTo>
                      <a:pt x="6407023" y="0"/>
                    </a:lnTo>
                    <a:lnTo>
                      <a:pt x="6407023" y="6852412"/>
                    </a:lnTo>
                    <a:lnTo>
                      <a:pt x="0" y="68524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alphaModFix amt="78000"/>
                </a:blip>
                <a:stretch>
                  <a:fillRect r="-149475" b="-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6" name="TextBox 6"/>
          <p:cNvSpPr txBox="1"/>
          <p:nvPr/>
        </p:nvSpPr>
        <p:spPr>
          <a:xfrm>
            <a:off x="1959969" y="923391"/>
            <a:ext cx="12618720" cy="26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TITLE PAGE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6929" y="-790136"/>
            <a:ext cx="15544800" cy="3114675"/>
            <a:chOff x="0" y="0"/>
            <a:chExt cx="20726400" cy="4152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2025</a:t>
              </a:r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4762049" y="9446"/>
            <a:ext cx="3313680" cy="1684302"/>
            <a:chOff x="0" y="0"/>
            <a:chExt cx="4418240" cy="2245736"/>
          </a:xfrm>
        </p:grpSpPr>
        <p:sp>
          <p:nvSpPr>
            <p:cNvPr id="11" name="Freeform 11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0" y="3070170"/>
            <a:ext cx="13792200" cy="7357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49"/>
              </a:lnSpc>
            </a:pPr>
            <a:endParaRPr dirty="0"/>
          </a:p>
          <a:p>
            <a:pPr marL="710514" lvl="1" indent="-355257" algn="l">
              <a:lnSpc>
                <a:spcPts val="3949"/>
              </a:lnSpc>
              <a:buFont typeface="Arial"/>
              <a:buChar char="•"/>
            </a:pPr>
            <a:r>
              <a:rPr lang="en-US" sz="329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STAEMENT ID               -  SIH25050</a:t>
            </a:r>
          </a:p>
          <a:p>
            <a:pPr algn="l">
              <a:lnSpc>
                <a:spcPts val="3949"/>
              </a:lnSpc>
            </a:pPr>
            <a:endParaRPr lang="en-US" sz="329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710514" lvl="1" indent="-355257" algn="l">
              <a:lnSpc>
                <a:spcPts val="3949"/>
              </a:lnSpc>
              <a:buFont typeface="Arial"/>
              <a:buChar char="•"/>
            </a:pPr>
            <a:r>
              <a:rPr lang="en-US" sz="329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STAEMENT TITLE         -  Smart Traffic Management</a:t>
            </a:r>
          </a:p>
          <a:p>
            <a:pPr algn="l">
              <a:lnSpc>
                <a:spcPts val="3949"/>
              </a:lnSpc>
            </a:pPr>
            <a:r>
              <a:rPr lang="en-US" sz="329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                                                System for Urban Congestion</a:t>
            </a:r>
          </a:p>
          <a:p>
            <a:pPr algn="l">
              <a:lnSpc>
                <a:spcPts val="3949"/>
              </a:lnSpc>
            </a:pPr>
            <a:endParaRPr lang="en-US" sz="329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710514" lvl="1" indent="-355257" algn="l">
              <a:lnSpc>
                <a:spcPts val="3949"/>
              </a:lnSpc>
              <a:buFont typeface="Arial"/>
              <a:buChar char="•"/>
            </a:pPr>
            <a:r>
              <a:rPr lang="en-US" sz="329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                                             -  Transportation &amp; Logistics</a:t>
            </a:r>
          </a:p>
          <a:p>
            <a:pPr algn="l">
              <a:lnSpc>
                <a:spcPts val="3949"/>
              </a:lnSpc>
            </a:pPr>
            <a:endParaRPr lang="en-US" sz="329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710514" lvl="1" indent="-355257" algn="l">
              <a:lnSpc>
                <a:spcPts val="3949"/>
              </a:lnSpc>
              <a:buFont typeface="Arial"/>
              <a:buChar char="•"/>
            </a:pPr>
            <a:r>
              <a:rPr lang="en-US" sz="329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                               -  Software</a:t>
            </a:r>
          </a:p>
          <a:p>
            <a:pPr algn="l">
              <a:lnSpc>
                <a:spcPts val="3949"/>
              </a:lnSpc>
            </a:pPr>
            <a:endParaRPr lang="en-US" sz="329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710514" lvl="1" indent="-355257" algn="l">
              <a:lnSpc>
                <a:spcPts val="3949"/>
              </a:lnSpc>
              <a:buFont typeface="Arial"/>
              <a:buChar char="•"/>
            </a:pPr>
            <a:r>
              <a:rPr lang="en-US" sz="329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                                          -  138</a:t>
            </a:r>
          </a:p>
          <a:p>
            <a:pPr algn="l">
              <a:lnSpc>
                <a:spcPts val="3949"/>
              </a:lnSpc>
            </a:pPr>
            <a:endParaRPr lang="en-US" sz="329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710514" lvl="1" indent="-355257" algn="l">
              <a:lnSpc>
                <a:spcPts val="3949"/>
              </a:lnSpc>
              <a:buFont typeface="Arial"/>
              <a:buChar char="•"/>
            </a:pPr>
            <a:r>
              <a:rPr lang="en-US" sz="329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                                   -  @XEN!TH</a:t>
            </a:r>
          </a:p>
          <a:p>
            <a:pPr algn="just">
              <a:lnSpc>
                <a:spcPts val="7898"/>
              </a:lnSpc>
            </a:pPr>
            <a:endParaRPr lang="en-US" sz="329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573737" y="-94184"/>
            <a:ext cx="5603126" cy="1793081"/>
            <a:chOff x="0" y="-104775"/>
            <a:chExt cx="7470834" cy="23907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834" cy="2286000"/>
            </a:xfrm>
            <a:custGeom>
              <a:avLst/>
              <a:gdLst/>
              <a:ahLst/>
              <a:cxnLst/>
              <a:rect l="l" t="t" r="r" b="b"/>
              <a:pathLst>
                <a:path w="7470834" h="2286000">
                  <a:moveTo>
                    <a:pt x="0" y="0"/>
                  </a:moveTo>
                  <a:lnTo>
                    <a:pt x="7470834" y="0"/>
                  </a:lnTo>
                  <a:lnTo>
                    <a:pt x="747083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7470834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spc="300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MARG SARTHI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30"/>
            <a:ext cx="4806000" cy="547688"/>
            <a:chOff x="0" y="0"/>
            <a:chExt cx="64080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0" y="359319"/>
            <a:ext cx="1915886" cy="1249101"/>
            <a:chOff x="0" y="0"/>
            <a:chExt cx="2554514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25400" y="2540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554514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@XEN!TH</a:t>
              </a:r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18" name="Freeform 18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9184" y="6024015"/>
            <a:ext cx="5277798" cy="3242390"/>
            <a:chOff x="0" y="0"/>
            <a:chExt cx="1390037" cy="8539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90037" cy="853963"/>
            </a:xfrm>
            <a:custGeom>
              <a:avLst/>
              <a:gdLst/>
              <a:ahLst/>
              <a:cxnLst/>
              <a:rect l="l" t="t" r="r" b="b"/>
              <a:pathLst>
                <a:path w="1390037" h="853963">
                  <a:moveTo>
                    <a:pt x="0" y="0"/>
                  </a:moveTo>
                  <a:lnTo>
                    <a:pt x="1390037" y="0"/>
                  </a:lnTo>
                  <a:lnTo>
                    <a:pt x="1390037" y="853963"/>
                  </a:lnTo>
                  <a:lnTo>
                    <a:pt x="0" y="853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390037" cy="863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51967" y="6079817"/>
            <a:ext cx="5207368" cy="303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225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225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Traffic optimization</a:t>
            </a:r>
          </a:p>
          <a:p>
            <a:pPr algn="l">
              <a:lnSpc>
                <a:spcPts val="2670"/>
              </a:lnSpc>
            </a:pPr>
            <a:endParaRPr lang="en-US" sz="2225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14884" lvl="1" indent="-207442" algn="l">
              <a:lnSpc>
                <a:spcPts val="2305"/>
              </a:lnSpc>
              <a:buFont typeface="Arial"/>
              <a:buChar char="•"/>
            </a:pPr>
            <a:r>
              <a:rPr lang="en-US" sz="1921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Long waits → Adaptive real-time signals</a:t>
            </a:r>
          </a:p>
          <a:p>
            <a:pPr marL="414884" lvl="1" indent="-207442" algn="l">
              <a:lnSpc>
                <a:spcPts val="2305"/>
              </a:lnSpc>
              <a:buFont typeface="Arial"/>
              <a:buChar char="•"/>
            </a:pPr>
            <a:r>
              <a:rPr lang="en-US" sz="1921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Jams → LSTM congestion forecasting (2–4 km ahead)</a:t>
            </a:r>
          </a:p>
          <a:p>
            <a:pPr marL="414884" lvl="1" indent="-207442" algn="l">
              <a:lnSpc>
                <a:spcPts val="2305"/>
              </a:lnSpc>
              <a:buFont typeface="Arial"/>
              <a:buChar char="•"/>
            </a:pPr>
            <a:r>
              <a:rPr lang="en-US" sz="1921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Ambulance delays → AI siren + V2V green corridors</a:t>
            </a:r>
          </a:p>
          <a:p>
            <a:pPr marL="414884" lvl="1" indent="-207442" algn="l">
              <a:lnSpc>
                <a:spcPts val="2305"/>
              </a:lnSpc>
              <a:buFont typeface="Arial"/>
              <a:buChar char="•"/>
            </a:pPr>
            <a:r>
              <a:rPr lang="en-US" sz="1921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Rule violations → Smart cameras auto-challan</a:t>
            </a:r>
          </a:p>
          <a:p>
            <a:pPr marL="458839" lvl="1" indent="-229419" algn="l">
              <a:lnSpc>
                <a:spcPts val="2550"/>
              </a:lnSpc>
              <a:buFont typeface="Arial"/>
              <a:buChar char="•"/>
            </a:pPr>
            <a:r>
              <a:rPr lang="en-US" sz="2125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Bad roads: AI + app pothole detection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97460" y="6003774"/>
            <a:ext cx="5277798" cy="3262631"/>
            <a:chOff x="0" y="0"/>
            <a:chExt cx="1390037" cy="8592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90037" cy="859294"/>
            </a:xfrm>
            <a:custGeom>
              <a:avLst/>
              <a:gdLst/>
              <a:ahLst/>
              <a:cxnLst/>
              <a:rect l="l" t="t" r="r" b="b"/>
              <a:pathLst>
                <a:path w="1390037" h="859294">
                  <a:moveTo>
                    <a:pt x="0" y="0"/>
                  </a:moveTo>
                  <a:lnTo>
                    <a:pt x="1390037" y="0"/>
                  </a:lnTo>
                  <a:lnTo>
                    <a:pt x="1390037" y="859294"/>
                  </a:lnTo>
                  <a:lnTo>
                    <a:pt x="0" y="859294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390037" cy="86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867411" y="6059733"/>
            <a:ext cx="5137896" cy="302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200" b="1" u="non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Uniqueness &amp; Innovation</a:t>
            </a:r>
          </a:p>
          <a:p>
            <a:pPr algn="l">
              <a:lnSpc>
                <a:spcPts val="2880"/>
              </a:lnSpc>
            </a:pPr>
            <a:endParaRPr lang="en-US" sz="2200" b="1" u="none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Predictive: LSTM forecasts traffic in advance</a:t>
            </a: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Hybrid response: Works even without full V2V adoption</a:t>
            </a: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Citizen-inclusive: Public reports + gamified rewards</a:t>
            </a: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All-in-one ISTM: Congestion, enforcement, emergencies, engagement</a:t>
            </a: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India-ready: Handles mixed, chaotic traffic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19184" y="3963788"/>
            <a:ext cx="10856074" cy="2039986"/>
            <a:chOff x="0" y="0"/>
            <a:chExt cx="14474766" cy="2719981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4474766" cy="2339528"/>
              <a:chOff x="0" y="0"/>
              <a:chExt cx="2859213" cy="46212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859213" cy="462129"/>
              </a:xfrm>
              <a:custGeom>
                <a:avLst/>
                <a:gdLst/>
                <a:ahLst/>
                <a:cxnLst/>
                <a:rect l="l" t="t" r="r" b="b"/>
                <a:pathLst>
                  <a:path w="2859213" h="462129">
                    <a:moveTo>
                      <a:pt x="0" y="0"/>
                    </a:moveTo>
                    <a:lnTo>
                      <a:pt x="2859213" y="0"/>
                    </a:lnTo>
                    <a:lnTo>
                      <a:pt x="2859213" y="462129"/>
                    </a:lnTo>
                    <a:lnTo>
                      <a:pt x="0" y="462129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9525"/>
                <a:ext cx="2859213" cy="4716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259423" y="145056"/>
              <a:ext cx="13955919" cy="257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9"/>
                </a:lnSpc>
              </a:pPr>
              <a:r>
                <a:rPr lang="en-US" sz="2199" b="1" u="none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Proposed Solution</a:t>
              </a:r>
            </a:p>
            <a:p>
              <a:pPr algn="just">
                <a:lnSpc>
                  <a:spcPts val="2279"/>
                </a:lnSpc>
              </a:pPr>
              <a:r>
                <a:rPr lang="en-US" sz="1899" dirty="0" err="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Mārg</a:t>
              </a:r>
              <a:r>
                <a:rPr lang="en-US" sz="1899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</a:t>
              </a:r>
              <a:r>
                <a:rPr lang="en-US" sz="1899" dirty="0" err="1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Sārthi</a:t>
              </a:r>
              <a:r>
                <a:rPr lang="en-US" sz="1899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is an AI-powered Intelligent Smart Traffic Management (ISTM) system designed for Indian cities. It predicts congestion, adapts signals in real time, prioritizes ambulances, monitors road health, and engages citizens through reporting &amp; rewards. It integrates real-time camera feeds, IoT sensors, V2V communication, and citizen reporting to predict and prevent congestion.</a:t>
              </a:r>
            </a:p>
            <a:p>
              <a:pPr algn="just">
                <a:lnSpc>
                  <a:spcPts val="3362"/>
                </a:lnSpc>
                <a:spcBef>
                  <a:spcPct val="0"/>
                </a:spcBef>
              </a:pPr>
              <a:endParaRPr lang="en-US" sz="18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1238680" y="2426867"/>
            <a:ext cx="6837049" cy="3073842"/>
          </a:xfrm>
          <a:custGeom>
            <a:avLst/>
            <a:gdLst/>
            <a:ahLst/>
            <a:cxnLst/>
            <a:rect l="l" t="t" r="r" b="b"/>
            <a:pathLst>
              <a:path w="6837049" h="3073842">
                <a:moveTo>
                  <a:pt x="0" y="0"/>
                </a:moveTo>
                <a:lnTo>
                  <a:pt x="6837049" y="0"/>
                </a:lnTo>
                <a:lnTo>
                  <a:pt x="6837049" y="3073842"/>
                </a:lnTo>
                <a:lnTo>
                  <a:pt x="0" y="3073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75" t="-3871" b="-757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11238680" y="5957287"/>
            <a:ext cx="6837049" cy="3301013"/>
          </a:xfrm>
          <a:custGeom>
            <a:avLst/>
            <a:gdLst/>
            <a:ahLst/>
            <a:cxnLst/>
            <a:rect l="l" t="t" r="r" b="b"/>
            <a:pathLst>
              <a:path w="6837049" h="3301013">
                <a:moveTo>
                  <a:pt x="0" y="0"/>
                </a:moveTo>
                <a:lnTo>
                  <a:pt x="6837049" y="0"/>
                </a:lnTo>
                <a:lnTo>
                  <a:pt x="6837049" y="3301013"/>
                </a:lnTo>
                <a:lnTo>
                  <a:pt x="0" y="33010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" name="Group 34"/>
          <p:cNvGrpSpPr/>
          <p:nvPr/>
        </p:nvGrpSpPr>
        <p:grpSpPr>
          <a:xfrm>
            <a:off x="219184" y="1852440"/>
            <a:ext cx="10856074" cy="1867329"/>
            <a:chOff x="0" y="0"/>
            <a:chExt cx="14474766" cy="2489772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14474766" cy="2489772"/>
              <a:chOff x="0" y="0"/>
              <a:chExt cx="686002" cy="11799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86002" cy="117998"/>
              </a:xfrm>
              <a:custGeom>
                <a:avLst/>
                <a:gdLst/>
                <a:ahLst/>
                <a:cxnLst/>
                <a:rect l="l" t="t" r="r" b="b"/>
                <a:pathLst>
                  <a:path w="686002" h="117998">
                    <a:moveTo>
                      <a:pt x="58999" y="0"/>
                    </a:moveTo>
                    <a:lnTo>
                      <a:pt x="627003" y="0"/>
                    </a:lnTo>
                    <a:cubicBezTo>
                      <a:pt x="659587" y="0"/>
                      <a:pt x="686002" y="26415"/>
                      <a:pt x="686002" y="58999"/>
                    </a:cubicBezTo>
                    <a:lnTo>
                      <a:pt x="686002" y="58999"/>
                    </a:lnTo>
                    <a:cubicBezTo>
                      <a:pt x="686002" y="74646"/>
                      <a:pt x="679786" y="89653"/>
                      <a:pt x="668721" y="100717"/>
                    </a:cubicBezTo>
                    <a:cubicBezTo>
                      <a:pt x="657657" y="111782"/>
                      <a:pt x="642650" y="117998"/>
                      <a:pt x="627003" y="117998"/>
                    </a:cubicBezTo>
                    <a:lnTo>
                      <a:pt x="58999" y="117998"/>
                    </a:lnTo>
                    <a:cubicBezTo>
                      <a:pt x="43351" y="117998"/>
                      <a:pt x="28345" y="111782"/>
                      <a:pt x="17280" y="100717"/>
                    </a:cubicBezTo>
                    <a:cubicBezTo>
                      <a:pt x="6216" y="89653"/>
                      <a:pt x="0" y="74646"/>
                      <a:pt x="0" y="58999"/>
                    </a:cubicBezTo>
                    <a:lnTo>
                      <a:pt x="0" y="58999"/>
                    </a:lnTo>
                    <a:cubicBezTo>
                      <a:pt x="0" y="43351"/>
                      <a:pt x="6216" y="28345"/>
                      <a:pt x="17280" y="17280"/>
                    </a:cubicBezTo>
                    <a:cubicBezTo>
                      <a:pt x="28345" y="6216"/>
                      <a:pt x="43351" y="0"/>
                      <a:pt x="58999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57150" cap="rnd">
                <a:solidFill>
                  <a:srgbClr val="18375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9525"/>
                <a:ext cx="686002" cy="1275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258595" y="204121"/>
              <a:ext cx="13943011" cy="19958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"Imagine you’re stuck at a red light . Traffic is jammed, an ambulance is honking behind you, and potholes slow everything further. Current apps like Google Maps can only show traffic density — they can’t clear a path, predict jams, or involve citizens. This is where Mārg Sārthi comes in."</a:t>
              </a:r>
            </a:p>
          </p:txBody>
        </p:sp>
      </p:grpSp>
      <p:pic>
        <p:nvPicPr>
          <p:cNvPr id="40" name="Picture 39" descr="A logo with a traffic light in the middle&#10;&#10;AI-generated content may be incorrect.">
            <a:extLst>
              <a:ext uri="{FF2B5EF4-FFF2-40B4-BE49-F238E27FC236}">
                <a16:creationId xmlns:a16="http://schemas.microsoft.com/office/drawing/2014/main" id="{22E05315-C410-46D1-DD7E-82A005E8AD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0" t="18998" r="27160" b="36545"/>
          <a:stretch>
            <a:fillRect/>
          </a:stretch>
        </p:blipFill>
        <p:spPr>
          <a:xfrm>
            <a:off x="5082018" y="70691"/>
            <a:ext cx="1570785" cy="152708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ED19F0F-12C0-6960-F69F-8D33300859AE}"/>
              </a:ext>
            </a:extLst>
          </p:cNvPr>
          <p:cNvSpPr txBox="1"/>
          <p:nvPr/>
        </p:nvSpPr>
        <p:spPr>
          <a:xfrm>
            <a:off x="6743699" y="1078488"/>
            <a:ext cx="5823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200" dirty="0">
                <a:latin typeface="Times New Roman MT" panose="020B0604020202020204" charset="0"/>
                <a:cs typeface="Times New Roman" panose="02020603050405020304" pitchFamily="18" charset="0"/>
              </a:rPr>
              <a:t>WHERE ROADS MEET INTELLIGENCE</a:t>
            </a:r>
            <a:endParaRPr lang="en-IN" b="1" spc="200" dirty="0">
              <a:latin typeface="Times New Roman MT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756108" y="0"/>
            <a:ext cx="8775783" cy="1714500"/>
            <a:chOff x="0" y="0"/>
            <a:chExt cx="11701044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701044" cy="2286000"/>
            </a:xfrm>
            <a:custGeom>
              <a:avLst/>
              <a:gdLst/>
              <a:ahLst/>
              <a:cxnLst/>
              <a:rect l="l" t="t" r="r" b="b"/>
              <a:pathLst>
                <a:path w="11701044" h="2286000">
                  <a:moveTo>
                    <a:pt x="0" y="0"/>
                  </a:moveTo>
                  <a:lnTo>
                    <a:pt x="11701044" y="0"/>
                  </a:lnTo>
                  <a:lnTo>
                    <a:pt x="1170104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1701044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30"/>
            <a:ext cx="4806000" cy="547688"/>
            <a:chOff x="0" y="0"/>
            <a:chExt cx="64080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14" name="Freeform 1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4974" y="303246"/>
            <a:ext cx="1915886" cy="1249101"/>
            <a:chOff x="0" y="0"/>
            <a:chExt cx="2554514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25400" y="2540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554514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@XEN!TH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1361" y="2270617"/>
            <a:ext cx="9358529" cy="1334632"/>
            <a:chOff x="0" y="0"/>
            <a:chExt cx="2701299" cy="3852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01299" cy="385236"/>
            </a:xfrm>
            <a:custGeom>
              <a:avLst/>
              <a:gdLst/>
              <a:ahLst/>
              <a:cxnLst/>
              <a:rect l="l" t="t" r="r" b="b"/>
              <a:pathLst>
                <a:path w="2701299" h="385236">
                  <a:moveTo>
                    <a:pt x="16545" y="0"/>
                  </a:moveTo>
                  <a:lnTo>
                    <a:pt x="2684754" y="0"/>
                  </a:lnTo>
                  <a:cubicBezTo>
                    <a:pt x="2689142" y="0"/>
                    <a:pt x="2693350" y="1743"/>
                    <a:pt x="2696453" y="4846"/>
                  </a:cubicBezTo>
                  <a:cubicBezTo>
                    <a:pt x="2699556" y="7949"/>
                    <a:pt x="2701299" y="12157"/>
                    <a:pt x="2701299" y="16545"/>
                  </a:cubicBezTo>
                  <a:lnTo>
                    <a:pt x="2701299" y="368691"/>
                  </a:lnTo>
                  <a:cubicBezTo>
                    <a:pt x="2701299" y="373079"/>
                    <a:pt x="2699556" y="377287"/>
                    <a:pt x="2696453" y="380390"/>
                  </a:cubicBezTo>
                  <a:cubicBezTo>
                    <a:pt x="2693350" y="383493"/>
                    <a:pt x="2689142" y="385236"/>
                    <a:pt x="2684754" y="385236"/>
                  </a:cubicBezTo>
                  <a:lnTo>
                    <a:pt x="16545" y="385236"/>
                  </a:lnTo>
                  <a:cubicBezTo>
                    <a:pt x="12157" y="385236"/>
                    <a:pt x="7949" y="383493"/>
                    <a:pt x="4846" y="380390"/>
                  </a:cubicBezTo>
                  <a:cubicBezTo>
                    <a:pt x="1743" y="377287"/>
                    <a:pt x="0" y="373079"/>
                    <a:pt x="0" y="368691"/>
                  </a:cubicBezTo>
                  <a:lnTo>
                    <a:pt x="0" y="16545"/>
                  </a:lnTo>
                  <a:cubicBezTo>
                    <a:pt x="0" y="12157"/>
                    <a:pt x="1743" y="7949"/>
                    <a:pt x="4846" y="4846"/>
                  </a:cubicBezTo>
                  <a:cubicBezTo>
                    <a:pt x="7949" y="1743"/>
                    <a:pt x="12157" y="0"/>
                    <a:pt x="16545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8375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701299" cy="423336"/>
            </a:xfrm>
            <a:prstGeom prst="rect">
              <a:avLst/>
            </a:prstGeom>
          </p:spPr>
          <p:txBody>
            <a:bodyPr lIns="58252" tIns="58252" rIns="58252" bIns="58252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91361" y="4155341"/>
            <a:ext cx="9358529" cy="1334632"/>
            <a:chOff x="0" y="0"/>
            <a:chExt cx="2701299" cy="3852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701299" cy="385236"/>
            </a:xfrm>
            <a:custGeom>
              <a:avLst/>
              <a:gdLst/>
              <a:ahLst/>
              <a:cxnLst/>
              <a:rect l="l" t="t" r="r" b="b"/>
              <a:pathLst>
                <a:path w="2701299" h="385236">
                  <a:moveTo>
                    <a:pt x="16545" y="0"/>
                  </a:moveTo>
                  <a:lnTo>
                    <a:pt x="2684754" y="0"/>
                  </a:lnTo>
                  <a:cubicBezTo>
                    <a:pt x="2689142" y="0"/>
                    <a:pt x="2693350" y="1743"/>
                    <a:pt x="2696453" y="4846"/>
                  </a:cubicBezTo>
                  <a:cubicBezTo>
                    <a:pt x="2699556" y="7949"/>
                    <a:pt x="2701299" y="12157"/>
                    <a:pt x="2701299" y="16545"/>
                  </a:cubicBezTo>
                  <a:lnTo>
                    <a:pt x="2701299" y="368691"/>
                  </a:lnTo>
                  <a:cubicBezTo>
                    <a:pt x="2701299" y="373079"/>
                    <a:pt x="2699556" y="377287"/>
                    <a:pt x="2696453" y="380390"/>
                  </a:cubicBezTo>
                  <a:cubicBezTo>
                    <a:pt x="2693350" y="383493"/>
                    <a:pt x="2689142" y="385236"/>
                    <a:pt x="2684754" y="385236"/>
                  </a:cubicBezTo>
                  <a:lnTo>
                    <a:pt x="16545" y="385236"/>
                  </a:lnTo>
                  <a:cubicBezTo>
                    <a:pt x="12157" y="385236"/>
                    <a:pt x="7949" y="383493"/>
                    <a:pt x="4846" y="380390"/>
                  </a:cubicBezTo>
                  <a:cubicBezTo>
                    <a:pt x="1743" y="377287"/>
                    <a:pt x="0" y="373079"/>
                    <a:pt x="0" y="368691"/>
                  </a:cubicBezTo>
                  <a:lnTo>
                    <a:pt x="0" y="16545"/>
                  </a:lnTo>
                  <a:cubicBezTo>
                    <a:pt x="0" y="12157"/>
                    <a:pt x="1743" y="7949"/>
                    <a:pt x="4846" y="4846"/>
                  </a:cubicBezTo>
                  <a:cubicBezTo>
                    <a:pt x="7949" y="1743"/>
                    <a:pt x="12157" y="0"/>
                    <a:pt x="16545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8375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701299" cy="423336"/>
            </a:xfrm>
            <a:prstGeom prst="rect">
              <a:avLst/>
            </a:prstGeom>
          </p:spPr>
          <p:txBody>
            <a:bodyPr lIns="58252" tIns="58252" rIns="58252" bIns="58252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76327" y="7923668"/>
            <a:ext cx="9324895" cy="1334632"/>
            <a:chOff x="0" y="0"/>
            <a:chExt cx="2691591" cy="3852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91591" cy="385236"/>
            </a:xfrm>
            <a:custGeom>
              <a:avLst/>
              <a:gdLst/>
              <a:ahLst/>
              <a:cxnLst/>
              <a:rect l="l" t="t" r="r" b="b"/>
              <a:pathLst>
                <a:path w="2691591" h="385236">
                  <a:moveTo>
                    <a:pt x="16605" y="0"/>
                  </a:moveTo>
                  <a:lnTo>
                    <a:pt x="2674986" y="0"/>
                  </a:lnTo>
                  <a:cubicBezTo>
                    <a:pt x="2684156" y="0"/>
                    <a:pt x="2691591" y="7434"/>
                    <a:pt x="2691591" y="16605"/>
                  </a:cubicBezTo>
                  <a:lnTo>
                    <a:pt x="2691591" y="368631"/>
                  </a:lnTo>
                  <a:cubicBezTo>
                    <a:pt x="2691591" y="377801"/>
                    <a:pt x="2684156" y="385236"/>
                    <a:pt x="2674986" y="385236"/>
                  </a:cubicBezTo>
                  <a:lnTo>
                    <a:pt x="16605" y="385236"/>
                  </a:lnTo>
                  <a:cubicBezTo>
                    <a:pt x="7434" y="385236"/>
                    <a:pt x="0" y="377801"/>
                    <a:pt x="0" y="368631"/>
                  </a:cubicBezTo>
                  <a:lnTo>
                    <a:pt x="0" y="16605"/>
                  </a:lnTo>
                  <a:cubicBezTo>
                    <a:pt x="0" y="7434"/>
                    <a:pt x="7434" y="0"/>
                    <a:pt x="16605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8375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691591" cy="423336"/>
            </a:xfrm>
            <a:prstGeom prst="rect">
              <a:avLst/>
            </a:prstGeom>
          </p:spPr>
          <p:txBody>
            <a:bodyPr lIns="58252" tIns="58252" rIns="58252" bIns="58252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76327" y="6039505"/>
            <a:ext cx="9358529" cy="1334632"/>
            <a:chOff x="0" y="0"/>
            <a:chExt cx="2701299" cy="38523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01299" cy="385236"/>
            </a:xfrm>
            <a:custGeom>
              <a:avLst/>
              <a:gdLst/>
              <a:ahLst/>
              <a:cxnLst/>
              <a:rect l="l" t="t" r="r" b="b"/>
              <a:pathLst>
                <a:path w="2701299" h="385236">
                  <a:moveTo>
                    <a:pt x="16545" y="0"/>
                  </a:moveTo>
                  <a:lnTo>
                    <a:pt x="2684754" y="0"/>
                  </a:lnTo>
                  <a:cubicBezTo>
                    <a:pt x="2689142" y="0"/>
                    <a:pt x="2693350" y="1743"/>
                    <a:pt x="2696453" y="4846"/>
                  </a:cubicBezTo>
                  <a:cubicBezTo>
                    <a:pt x="2699556" y="7949"/>
                    <a:pt x="2701299" y="12157"/>
                    <a:pt x="2701299" y="16545"/>
                  </a:cubicBezTo>
                  <a:lnTo>
                    <a:pt x="2701299" y="368691"/>
                  </a:lnTo>
                  <a:cubicBezTo>
                    <a:pt x="2701299" y="373079"/>
                    <a:pt x="2699556" y="377287"/>
                    <a:pt x="2696453" y="380390"/>
                  </a:cubicBezTo>
                  <a:cubicBezTo>
                    <a:pt x="2693350" y="383493"/>
                    <a:pt x="2689142" y="385236"/>
                    <a:pt x="2684754" y="385236"/>
                  </a:cubicBezTo>
                  <a:lnTo>
                    <a:pt x="16545" y="385236"/>
                  </a:lnTo>
                  <a:cubicBezTo>
                    <a:pt x="12157" y="385236"/>
                    <a:pt x="7949" y="383493"/>
                    <a:pt x="4846" y="380390"/>
                  </a:cubicBezTo>
                  <a:cubicBezTo>
                    <a:pt x="1743" y="377287"/>
                    <a:pt x="0" y="373079"/>
                    <a:pt x="0" y="368691"/>
                  </a:cubicBezTo>
                  <a:lnTo>
                    <a:pt x="0" y="16545"/>
                  </a:lnTo>
                  <a:cubicBezTo>
                    <a:pt x="0" y="12157"/>
                    <a:pt x="1743" y="7949"/>
                    <a:pt x="4846" y="4846"/>
                  </a:cubicBezTo>
                  <a:cubicBezTo>
                    <a:pt x="7949" y="1743"/>
                    <a:pt x="12157" y="0"/>
                    <a:pt x="16545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8375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701299" cy="423336"/>
            </a:xfrm>
            <a:prstGeom prst="rect">
              <a:avLst/>
            </a:prstGeom>
          </p:spPr>
          <p:txBody>
            <a:bodyPr lIns="58252" tIns="58252" rIns="58252" bIns="58252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 rot="5400000" flipV="1">
            <a:off x="-438647" y="3490234"/>
            <a:ext cx="1937347" cy="692602"/>
          </a:xfrm>
          <a:custGeom>
            <a:avLst/>
            <a:gdLst/>
            <a:ahLst/>
            <a:cxnLst/>
            <a:rect l="l" t="t" r="r" b="b"/>
            <a:pathLst>
              <a:path w="1937347" h="692602">
                <a:moveTo>
                  <a:pt x="0" y="692602"/>
                </a:moveTo>
                <a:lnTo>
                  <a:pt x="1937346" y="692602"/>
                </a:lnTo>
                <a:lnTo>
                  <a:pt x="1937346" y="0"/>
                </a:lnTo>
                <a:lnTo>
                  <a:pt x="0" y="0"/>
                </a:lnTo>
                <a:lnTo>
                  <a:pt x="0" y="6926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 rot="5400000" flipV="1">
            <a:off x="-423614" y="5504594"/>
            <a:ext cx="1937347" cy="692602"/>
          </a:xfrm>
          <a:custGeom>
            <a:avLst/>
            <a:gdLst/>
            <a:ahLst/>
            <a:cxnLst/>
            <a:rect l="l" t="t" r="r" b="b"/>
            <a:pathLst>
              <a:path w="1937347" h="692602">
                <a:moveTo>
                  <a:pt x="0" y="692602"/>
                </a:moveTo>
                <a:lnTo>
                  <a:pt x="1937347" y="692602"/>
                </a:lnTo>
                <a:lnTo>
                  <a:pt x="1937347" y="0"/>
                </a:lnTo>
                <a:lnTo>
                  <a:pt x="0" y="0"/>
                </a:lnTo>
                <a:lnTo>
                  <a:pt x="0" y="6926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 rot="5400000" flipV="1">
            <a:off x="-438647" y="7518954"/>
            <a:ext cx="1937347" cy="692602"/>
          </a:xfrm>
          <a:custGeom>
            <a:avLst/>
            <a:gdLst/>
            <a:ahLst/>
            <a:cxnLst/>
            <a:rect l="l" t="t" r="r" b="b"/>
            <a:pathLst>
              <a:path w="1937347" h="692602">
                <a:moveTo>
                  <a:pt x="0" y="692601"/>
                </a:moveTo>
                <a:lnTo>
                  <a:pt x="1937346" y="692601"/>
                </a:lnTo>
                <a:lnTo>
                  <a:pt x="1937346" y="0"/>
                </a:lnTo>
                <a:lnTo>
                  <a:pt x="0" y="0"/>
                </a:lnTo>
                <a:lnTo>
                  <a:pt x="0" y="6926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8525751" y="2436497"/>
            <a:ext cx="583314" cy="1102483"/>
          </a:xfrm>
          <a:custGeom>
            <a:avLst/>
            <a:gdLst/>
            <a:ahLst/>
            <a:cxnLst/>
            <a:rect l="l" t="t" r="r" b="b"/>
            <a:pathLst>
              <a:path w="583314" h="1102483">
                <a:moveTo>
                  <a:pt x="0" y="0"/>
                </a:moveTo>
                <a:lnTo>
                  <a:pt x="583314" y="0"/>
                </a:lnTo>
                <a:lnTo>
                  <a:pt x="583314" y="1102483"/>
                </a:lnTo>
                <a:lnTo>
                  <a:pt x="0" y="1102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6755422" y="8039743"/>
            <a:ext cx="583314" cy="1102483"/>
          </a:xfrm>
          <a:custGeom>
            <a:avLst/>
            <a:gdLst/>
            <a:ahLst/>
            <a:cxnLst/>
            <a:rect l="l" t="t" r="r" b="b"/>
            <a:pathLst>
              <a:path w="583314" h="1102483">
                <a:moveTo>
                  <a:pt x="0" y="0"/>
                </a:moveTo>
                <a:lnTo>
                  <a:pt x="583313" y="0"/>
                </a:lnTo>
                <a:lnTo>
                  <a:pt x="583313" y="1102483"/>
                </a:lnTo>
                <a:lnTo>
                  <a:pt x="0" y="1102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Freeform 36"/>
          <p:cNvSpPr/>
          <p:nvPr/>
        </p:nvSpPr>
        <p:spPr>
          <a:xfrm>
            <a:off x="4239556" y="4271174"/>
            <a:ext cx="1025615" cy="1119223"/>
          </a:xfrm>
          <a:custGeom>
            <a:avLst/>
            <a:gdLst/>
            <a:ahLst/>
            <a:cxnLst/>
            <a:rect l="l" t="t" r="r" b="b"/>
            <a:pathLst>
              <a:path w="1025615" h="1119223">
                <a:moveTo>
                  <a:pt x="0" y="0"/>
                </a:moveTo>
                <a:lnTo>
                  <a:pt x="1025615" y="0"/>
                </a:lnTo>
                <a:lnTo>
                  <a:pt x="1025615" y="1119222"/>
                </a:lnTo>
                <a:lnTo>
                  <a:pt x="0" y="11192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Freeform 37"/>
          <p:cNvSpPr/>
          <p:nvPr/>
        </p:nvSpPr>
        <p:spPr>
          <a:xfrm>
            <a:off x="1404415" y="6173335"/>
            <a:ext cx="479380" cy="958761"/>
          </a:xfrm>
          <a:custGeom>
            <a:avLst/>
            <a:gdLst/>
            <a:ahLst/>
            <a:cxnLst/>
            <a:rect l="l" t="t" r="r" b="b"/>
            <a:pathLst>
              <a:path w="479380" h="958761">
                <a:moveTo>
                  <a:pt x="0" y="0"/>
                </a:moveTo>
                <a:lnTo>
                  <a:pt x="479380" y="0"/>
                </a:lnTo>
                <a:lnTo>
                  <a:pt x="479380" y="958761"/>
                </a:lnTo>
                <a:lnTo>
                  <a:pt x="0" y="9587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Freeform 38"/>
          <p:cNvSpPr/>
          <p:nvPr/>
        </p:nvSpPr>
        <p:spPr>
          <a:xfrm>
            <a:off x="7392100" y="6111711"/>
            <a:ext cx="1424380" cy="1107840"/>
          </a:xfrm>
          <a:custGeom>
            <a:avLst/>
            <a:gdLst/>
            <a:ahLst/>
            <a:cxnLst/>
            <a:rect l="l" t="t" r="r" b="b"/>
            <a:pathLst>
              <a:path w="1424380" h="1107840">
                <a:moveTo>
                  <a:pt x="0" y="0"/>
                </a:moveTo>
                <a:lnTo>
                  <a:pt x="1424380" y="0"/>
                </a:lnTo>
                <a:lnTo>
                  <a:pt x="1424380" y="1107840"/>
                </a:lnTo>
                <a:lnTo>
                  <a:pt x="0" y="11078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2551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Freeform 39"/>
          <p:cNvSpPr/>
          <p:nvPr/>
        </p:nvSpPr>
        <p:spPr>
          <a:xfrm>
            <a:off x="1148508" y="2436497"/>
            <a:ext cx="1300895" cy="1002872"/>
          </a:xfrm>
          <a:custGeom>
            <a:avLst/>
            <a:gdLst/>
            <a:ahLst/>
            <a:cxnLst/>
            <a:rect l="l" t="t" r="r" b="b"/>
            <a:pathLst>
              <a:path w="1300895" h="1002872">
                <a:moveTo>
                  <a:pt x="0" y="0"/>
                </a:moveTo>
                <a:lnTo>
                  <a:pt x="1300895" y="0"/>
                </a:lnTo>
                <a:lnTo>
                  <a:pt x="1300895" y="1002872"/>
                </a:lnTo>
                <a:lnTo>
                  <a:pt x="0" y="10028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0" name="Freeform 40"/>
          <p:cNvSpPr/>
          <p:nvPr/>
        </p:nvSpPr>
        <p:spPr>
          <a:xfrm>
            <a:off x="3728295" y="2501659"/>
            <a:ext cx="980450" cy="1013206"/>
          </a:xfrm>
          <a:custGeom>
            <a:avLst/>
            <a:gdLst/>
            <a:ahLst/>
            <a:cxnLst/>
            <a:rect l="l" t="t" r="r" b="b"/>
            <a:pathLst>
              <a:path w="1151806" h="1151806">
                <a:moveTo>
                  <a:pt x="0" y="0"/>
                </a:moveTo>
                <a:lnTo>
                  <a:pt x="1151806" y="0"/>
                </a:lnTo>
                <a:lnTo>
                  <a:pt x="1151806" y="1151805"/>
                </a:lnTo>
                <a:lnTo>
                  <a:pt x="0" y="11518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1" name="Freeform 41"/>
          <p:cNvSpPr/>
          <p:nvPr/>
        </p:nvSpPr>
        <p:spPr>
          <a:xfrm>
            <a:off x="6019680" y="2692012"/>
            <a:ext cx="1319056" cy="668443"/>
          </a:xfrm>
          <a:custGeom>
            <a:avLst/>
            <a:gdLst/>
            <a:ahLst/>
            <a:cxnLst/>
            <a:rect l="l" t="t" r="r" b="b"/>
            <a:pathLst>
              <a:path w="1450975" h="918071">
                <a:moveTo>
                  <a:pt x="0" y="0"/>
                </a:moveTo>
                <a:lnTo>
                  <a:pt x="1450975" y="0"/>
                </a:lnTo>
                <a:lnTo>
                  <a:pt x="1450975" y="918072"/>
                </a:lnTo>
                <a:lnTo>
                  <a:pt x="0" y="91807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Freeform 42"/>
          <p:cNvSpPr/>
          <p:nvPr/>
        </p:nvSpPr>
        <p:spPr>
          <a:xfrm>
            <a:off x="7588058" y="4294587"/>
            <a:ext cx="1080753" cy="1075774"/>
          </a:xfrm>
          <a:custGeom>
            <a:avLst/>
            <a:gdLst/>
            <a:ahLst/>
            <a:cxnLst/>
            <a:rect l="l" t="t" r="r" b="b"/>
            <a:pathLst>
              <a:path w="1080753" h="1075774">
                <a:moveTo>
                  <a:pt x="0" y="0"/>
                </a:moveTo>
                <a:lnTo>
                  <a:pt x="1080753" y="0"/>
                </a:lnTo>
                <a:lnTo>
                  <a:pt x="1080753" y="1075774"/>
                </a:lnTo>
                <a:lnTo>
                  <a:pt x="0" y="107577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Freeform 43"/>
          <p:cNvSpPr/>
          <p:nvPr/>
        </p:nvSpPr>
        <p:spPr>
          <a:xfrm>
            <a:off x="1148508" y="4258850"/>
            <a:ext cx="1143871" cy="1143871"/>
          </a:xfrm>
          <a:custGeom>
            <a:avLst/>
            <a:gdLst/>
            <a:ahLst/>
            <a:cxnLst/>
            <a:rect l="l" t="t" r="r" b="b"/>
            <a:pathLst>
              <a:path w="1143871" h="1143871">
                <a:moveTo>
                  <a:pt x="0" y="0"/>
                </a:moveTo>
                <a:lnTo>
                  <a:pt x="1143871" y="0"/>
                </a:lnTo>
                <a:lnTo>
                  <a:pt x="1143871" y="1143871"/>
                </a:lnTo>
                <a:lnTo>
                  <a:pt x="0" y="114387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4" name="Freeform 44"/>
          <p:cNvSpPr/>
          <p:nvPr/>
        </p:nvSpPr>
        <p:spPr>
          <a:xfrm>
            <a:off x="3936872" y="6208583"/>
            <a:ext cx="1328299" cy="1048073"/>
          </a:xfrm>
          <a:custGeom>
            <a:avLst/>
            <a:gdLst/>
            <a:ahLst/>
            <a:cxnLst/>
            <a:rect l="l" t="t" r="r" b="b"/>
            <a:pathLst>
              <a:path w="1328299" h="1048073">
                <a:moveTo>
                  <a:pt x="0" y="0"/>
                </a:moveTo>
                <a:lnTo>
                  <a:pt x="1328299" y="0"/>
                </a:lnTo>
                <a:lnTo>
                  <a:pt x="1328299" y="1048074"/>
                </a:lnTo>
                <a:lnTo>
                  <a:pt x="0" y="104807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5" name="Freeform 45"/>
          <p:cNvSpPr/>
          <p:nvPr/>
        </p:nvSpPr>
        <p:spPr>
          <a:xfrm>
            <a:off x="1329121" y="8091601"/>
            <a:ext cx="1350467" cy="940810"/>
          </a:xfrm>
          <a:custGeom>
            <a:avLst/>
            <a:gdLst/>
            <a:ahLst/>
            <a:cxnLst/>
            <a:rect l="l" t="t" r="r" b="b"/>
            <a:pathLst>
              <a:path w="1350467" h="940810">
                <a:moveTo>
                  <a:pt x="0" y="0"/>
                </a:moveTo>
                <a:lnTo>
                  <a:pt x="1350467" y="0"/>
                </a:lnTo>
                <a:lnTo>
                  <a:pt x="1350467" y="940810"/>
                </a:lnTo>
                <a:lnTo>
                  <a:pt x="0" y="94081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6"/>
          <p:cNvSpPr txBox="1"/>
          <p:nvPr/>
        </p:nvSpPr>
        <p:spPr>
          <a:xfrm>
            <a:off x="4160248" y="1722323"/>
            <a:ext cx="2992640" cy="38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sz="231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INPUT LAYER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942483" y="3722652"/>
            <a:ext cx="5726327" cy="353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sz="231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PROCESSING LAYER ( ISTM ENGINE 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983491" y="7425528"/>
            <a:ext cx="3408609" cy="395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sz="231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APPLICATION LAYER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640527" y="5551806"/>
            <a:ext cx="4149018" cy="38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spcBef>
                <a:spcPct val="0"/>
              </a:spcBef>
            </a:pPr>
            <a:r>
              <a:rPr lang="en-US" sz="231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DECISION LAYER ( AI / ML 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711388" y="8235308"/>
            <a:ext cx="1858279" cy="663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Dashboard</a:t>
            </a:r>
          </a:p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authorities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789545" y="8081282"/>
            <a:ext cx="1472412" cy="97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Citizen </a:t>
            </a:r>
          </a:p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Web Application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592031" y="4322772"/>
            <a:ext cx="1207451" cy="97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Yolov8</a:t>
            </a:r>
          </a:p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Vehicle</a:t>
            </a:r>
          </a:p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767813" y="4470902"/>
            <a:ext cx="1433409" cy="663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Video</a:t>
            </a:r>
          </a:p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Processing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397193" y="4312548"/>
            <a:ext cx="1575107" cy="97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LSTM</a:t>
            </a:r>
          </a:p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Traffic</a:t>
            </a:r>
          </a:p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Forecasting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004354" y="6197118"/>
            <a:ext cx="1259939" cy="97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Adaptive</a:t>
            </a:r>
          </a:p>
          <a:p>
            <a:pPr algn="ctr">
              <a:lnSpc>
                <a:spcPts val="2494"/>
              </a:lnSpc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Signal</a:t>
            </a:r>
          </a:p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Controller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397193" y="6222918"/>
            <a:ext cx="1575107" cy="97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Emergency</a:t>
            </a:r>
          </a:p>
          <a:p>
            <a:pPr algn="ctr">
              <a:lnSpc>
                <a:spcPts val="2494"/>
              </a:lnSpc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vehicle</a:t>
            </a:r>
          </a:p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Priority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951425" y="6222918"/>
            <a:ext cx="990050" cy="97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Eco-</a:t>
            </a:r>
          </a:p>
          <a:p>
            <a:pPr algn="ctr">
              <a:lnSpc>
                <a:spcPts val="2494"/>
              </a:lnSpc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Routing</a:t>
            </a:r>
          </a:p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logic</a:t>
            </a:r>
          </a:p>
        </p:txBody>
      </p:sp>
      <p:sp>
        <p:nvSpPr>
          <p:cNvPr id="58" name="Freeform 58"/>
          <p:cNvSpPr/>
          <p:nvPr/>
        </p:nvSpPr>
        <p:spPr>
          <a:xfrm>
            <a:off x="13179410" y="6118384"/>
            <a:ext cx="904727" cy="776694"/>
          </a:xfrm>
          <a:custGeom>
            <a:avLst/>
            <a:gdLst/>
            <a:ahLst/>
            <a:cxnLst/>
            <a:rect l="l" t="t" r="r" b="b"/>
            <a:pathLst>
              <a:path w="904727" h="776694">
                <a:moveTo>
                  <a:pt x="0" y="0"/>
                </a:moveTo>
                <a:lnTo>
                  <a:pt x="904727" y="0"/>
                </a:lnTo>
                <a:lnTo>
                  <a:pt x="904727" y="776694"/>
                </a:lnTo>
                <a:lnTo>
                  <a:pt x="0" y="77669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16798" r="-35991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9" name="Group 59"/>
          <p:cNvGrpSpPr/>
          <p:nvPr/>
        </p:nvGrpSpPr>
        <p:grpSpPr>
          <a:xfrm>
            <a:off x="13278546" y="4068354"/>
            <a:ext cx="706456" cy="827270"/>
            <a:chOff x="0" y="0"/>
            <a:chExt cx="521020" cy="61012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21020" cy="610123"/>
            </a:xfrm>
            <a:custGeom>
              <a:avLst/>
              <a:gdLst/>
              <a:ahLst/>
              <a:cxnLst/>
              <a:rect l="l" t="t" r="r" b="b"/>
              <a:pathLst>
                <a:path w="521020" h="610123">
                  <a:moveTo>
                    <a:pt x="252053" y="0"/>
                  </a:moveTo>
                  <a:lnTo>
                    <a:pt x="268967" y="0"/>
                  </a:lnTo>
                  <a:cubicBezTo>
                    <a:pt x="408172" y="0"/>
                    <a:pt x="521020" y="112848"/>
                    <a:pt x="521020" y="252053"/>
                  </a:cubicBezTo>
                  <a:lnTo>
                    <a:pt x="521020" y="358070"/>
                  </a:lnTo>
                  <a:cubicBezTo>
                    <a:pt x="521020" y="497275"/>
                    <a:pt x="408172" y="610123"/>
                    <a:pt x="268967" y="610123"/>
                  </a:cubicBezTo>
                  <a:lnTo>
                    <a:pt x="252053" y="610123"/>
                  </a:lnTo>
                  <a:cubicBezTo>
                    <a:pt x="112848" y="610123"/>
                    <a:pt x="0" y="497275"/>
                    <a:pt x="0" y="358070"/>
                  </a:cubicBezTo>
                  <a:lnTo>
                    <a:pt x="0" y="252053"/>
                  </a:lnTo>
                  <a:cubicBezTo>
                    <a:pt x="0" y="112848"/>
                    <a:pt x="112848" y="0"/>
                    <a:pt x="252053" y="0"/>
                  </a:cubicBezTo>
                  <a:close/>
                </a:path>
              </a:pathLst>
            </a:custGeom>
            <a:blipFill>
              <a:blip r:embed="rId30"/>
              <a:stretch>
                <a:fillRect l="-8550" r="-855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179410" y="5147016"/>
            <a:ext cx="751399" cy="751399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1"/>
              <a:stretch>
                <a:fillRect l="-60264" r="-6026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3" name="Freeform 63"/>
          <p:cNvSpPr/>
          <p:nvPr/>
        </p:nvSpPr>
        <p:spPr>
          <a:xfrm>
            <a:off x="16079368" y="6118384"/>
            <a:ext cx="437313" cy="709506"/>
          </a:xfrm>
          <a:custGeom>
            <a:avLst/>
            <a:gdLst/>
            <a:ahLst/>
            <a:cxnLst/>
            <a:rect l="l" t="t" r="r" b="b"/>
            <a:pathLst>
              <a:path w="437313" h="709506">
                <a:moveTo>
                  <a:pt x="0" y="0"/>
                </a:moveTo>
                <a:lnTo>
                  <a:pt x="437313" y="0"/>
                </a:lnTo>
                <a:lnTo>
                  <a:pt x="437313" y="709505"/>
                </a:lnTo>
                <a:lnTo>
                  <a:pt x="0" y="70950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4" name="AutoShape 64"/>
          <p:cNvSpPr/>
          <p:nvPr/>
        </p:nvSpPr>
        <p:spPr>
          <a:xfrm>
            <a:off x="13066962" y="3999311"/>
            <a:ext cx="2258228" cy="0"/>
          </a:xfrm>
          <a:prstGeom prst="line">
            <a:avLst/>
          </a:prstGeom>
          <a:ln w="38100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5" name="AutoShape 65"/>
          <p:cNvSpPr/>
          <p:nvPr/>
        </p:nvSpPr>
        <p:spPr>
          <a:xfrm>
            <a:off x="13069383" y="5021320"/>
            <a:ext cx="2258228" cy="0"/>
          </a:xfrm>
          <a:prstGeom prst="line">
            <a:avLst/>
          </a:prstGeom>
          <a:ln w="38100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6" name="AutoShape 66"/>
          <p:cNvSpPr/>
          <p:nvPr/>
        </p:nvSpPr>
        <p:spPr>
          <a:xfrm>
            <a:off x="13069383" y="5992687"/>
            <a:ext cx="2258228" cy="0"/>
          </a:xfrm>
          <a:prstGeom prst="line">
            <a:avLst/>
          </a:prstGeom>
          <a:ln w="38100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7" name="AutoShape 67"/>
          <p:cNvSpPr/>
          <p:nvPr/>
        </p:nvSpPr>
        <p:spPr>
          <a:xfrm>
            <a:off x="15817501" y="4020260"/>
            <a:ext cx="2258228" cy="0"/>
          </a:xfrm>
          <a:prstGeom prst="line">
            <a:avLst/>
          </a:prstGeom>
          <a:ln w="38100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8" name="AutoShape 68"/>
          <p:cNvSpPr/>
          <p:nvPr/>
        </p:nvSpPr>
        <p:spPr>
          <a:xfrm>
            <a:off x="15817501" y="5992687"/>
            <a:ext cx="2258228" cy="0"/>
          </a:xfrm>
          <a:prstGeom prst="line">
            <a:avLst/>
          </a:prstGeom>
          <a:ln w="38100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9" name="AutoShape 69"/>
          <p:cNvSpPr/>
          <p:nvPr/>
        </p:nvSpPr>
        <p:spPr>
          <a:xfrm>
            <a:off x="15817501" y="5021320"/>
            <a:ext cx="2258228" cy="0"/>
          </a:xfrm>
          <a:prstGeom prst="line">
            <a:avLst/>
          </a:prstGeom>
          <a:ln w="38100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Box 70"/>
          <p:cNvSpPr txBox="1"/>
          <p:nvPr/>
        </p:nvSpPr>
        <p:spPr>
          <a:xfrm>
            <a:off x="16833545" y="5217511"/>
            <a:ext cx="1131536" cy="54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Admin </a:t>
            </a:r>
          </a:p>
          <a:p>
            <a:pPr algn="ctr">
              <a:lnSpc>
                <a:spcPts val="1979"/>
              </a:lnSpc>
              <a:spcBef>
                <a:spcPct val="0"/>
              </a:spcBef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Dashboard</a:t>
            </a:r>
          </a:p>
        </p:txBody>
      </p:sp>
      <p:sp>
        <p:nvSpPr>
          <p:cNvPr id="71" name="Freeform 71"/>
          <p:cNvSpPr/>
          <p:nvPr/>
        </p:nvSpPr>
        <p:spPr>
          <a:xfrm>
            <a:off x="15905352" y="5169646"/>
            <a:ext cx="957461" cy="667020"/>
          </a:xfrm>
          <a:custGeom>
            <a:avLst/>
            <a:gdLst/>
            <a:ahLst/>
            <a:cxnLst/>
            <a:rect l="l" t="t" r="r" b="b"/>
            <a:pathLst>
              <a:path w="957461" h="667020">
                <a:moveTo>
                  <a:pt x="0" y="0"/>
                </a:moveTo>
                <a:lnTo>
                  <a:pt x="957461" y="0"/>
                </a:lnTo>
                <a:lnTo>
                  <a:pt x="957461" y="667020"/>
                </a:lnTo>
                <a:lnTo>
                  <a:pt x="0" y="66702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2" name="Freeform 72"/>
          <p:cNvSpPr/>
          <p:nvPr/>
        </p:nvSpPr>
        <p:spPr>
          <a:xfrm>
            <a:off x="15804150" y="4051997"/>
            <a:ext cx="1027126" cy="969323"/>
          </a:xfrm>
          <a:custGeom>
            <a:avLst/>
            <a:gdLst/>
            <a:ahLst/>
            <a:cxnLst/>
            <a:rect l="l" t="t" r="r" b="b"/>
            <a:pathLst>
              <a:path w="1027126" h="969323">
                <a:moveTo>
                  <a:pt x="0" y="0"/>
                </a:moveTo>
                <a:lnTo>
                  <a:pt x="1027126" y="0"/>
                </a:lnTo>
                <a:lnTo>
                  <a:pt x="1027126" y="969323"/>
                </a:lnTo>
                <a:lnTo>
                  <a:pt x="0" y="969323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3" name="TextBox 73"/>
          <p:cNvSpPr txBox="1"/>
          <p:nvPr/>
        </p:nvSpPr>
        <p:spPr>
          <a:xfrm>
            <a:off x="11448687" y="4369104"/>
            <a:ext cx="889889" cy="28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9"/>
              </a:lnSpc>
              <a:spcBef>
                <a:spcPct val="0"/>
              </a:spcBef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Open CV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170412" y="5170362"/>
            <a:ext cx="1371748" cy="48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sz="153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YOLOv8</a:t>
            </a:r>
          </a:p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 detection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2816" y="6017435"/>
            <a:ext cx="1141632" cy="79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LSTM Traffic</a:t>
            </a:r>
          </a:p>
          <a:p>
            <a:pPr algn="ctr">
              <a:lnSpc>
                <a:spcPts val="1979"/>
              </a:lnSpc>
              <a:spcBef>
                <a:spcPct val="0"/>
              </a:spcBef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forecasting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4184020" y="4243408"/>
            <a:ext cx="935084" cy="54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9"/>
              </a:lnSpc>
              <a:spcBef>
                <a:spcPct val="0"/>
              </a:spcBef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Mongo DB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196076" y="5272925"/>
            <a:ext cx="809715" cy="54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9"/>
              </a:lnSpc>
              <a:spcBef>
                <a:spcPct val="0"/>
              </a:spcBef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V2V / V2I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4158895" y="6209639"/>
            <a:ext cx="1166296" cy="54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Sumo</a:t>
            </a:r>
          </a:p>
          <a:p>
            <a:pPr algn="ctr">
              <a:lnSpc>
                <a:spcPts val="1979"/>
              </a:lnSpc>
              <a:spcBef>
                <a:spcPct val="0"/>
              </a:spcBef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simulation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7035360" y="4405311"/>
            <a:ext cx="874189" cy="30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1"/>
              </a:lnSpc>
              <a:spcBef>
                <a:spcPct val="0"/>
              </a:spcBef>
            </a:pPr>
            <a:r>
              <a:rPr lang="en-US" sz="175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6805667" y="6217238"/>
            <a:ext cx="1140278" cy="54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Citizen </a:t>
            </a:r>
          </a:p>
          <a:p>
            <a:pPr algn="ctr">
              <a:lnSpc>
                <a:spcPts val="1979"/>
              </a:lnSpc>
              <a:spcBef>
                <a:spcPct val="0"/>
              </a:spcBef>
            </a:pPr>
            <a:r>
              <a:rPr lang="en-US" sz="164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Web App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10825330" y="3508039"/>
            <a:ext cx="2250973" cy="4611639"/>
            <a:chOff x="0" y="0"/>
            <a:chExt cx="610346" cy="125043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610346" cy="1250436"/>
            </a:xfrm>
            <a:custGeom>
              <a:avLst/>
              <a:gdLst/>
              <a:ahLst/>
              <a:cxnLst/>
              <a:rect l="l" t="t" r="r" b="b"/>
              <a:pathLst>
                <a:path w="610346" h="1250436">
                  <a:moveTo>
                    <a:pt x="68787" y="0"/>
                  </a:moveTo>
                  <a:lnTo>
                    <a:pt x="541559" y="0"/>
                  </a:lnTo>
                  <a:cubicBezTo>
                    <a:pt x="559803" y="0"/>
                    <a:pt x="577299" y="7247"/>
                    <a:pt x="590199" y="20147"/>
                  </a:cubicBezTo>
                  <a:cubicBezTo>
                    <a:pt x="603099" y="33047"/>
                    <a:pt x="610346" y="50544"/>
                    <a:pt x="610346" y="68787"/>
                  </a:cubicBezTo>
                  <a:lnTo>
                    <a:pt x="610346" y="1181649"/>
                  </a:lnTo>
                  <a:cubicBezTo>
                    <a:pt x="610346" y="1199892"/>
                    <a:pt x="603099" y="1217389"/>
                    <a:pt x="590199" y="1230289"/>
                  </a:cubicBezTo>
                  <a:cubicBezTo>
                    <a:pt x="577299" y="1243189"/>
                    <a:pt x="559803" y="1250436"/>
                    <a:pt x="541559" y="1250436"/>
                  </a:cubicBezTo>
                  <a:lnTo>
                    <a:pt x="68787" y="1250436"/>
                  </a:lnTo>
                  <a:cubicBezTo>
                    <a:pt x="50544" y="1250436"/>
                    <a:pt x="33047" y="1243189"/>
                    <a:pt x="20147" y="1230289"/>
                  </a:cubicBezTo>
                  <a:cubicBezTo>
                    <a:pt x="7247" y="1217389"/>
                    <a:pt x="0" y="1199892"/>
                    <a:pt x="0" y="1181649"/>
                  </a:cubicBezTo>
                  <a:lnTo>
                    <a:pt x="0" y="68787"/>
                  </a:lnTo>
                  <a:cubicBezTo>
                    <a:pt x="0" y="50544"/>
                    <a:pt x="7247" y="33047"/>
                    <a:pt x="20147" y="20147"/>
                  </a:cubicBezTo>
                  <a:cubicBezTo>
                    <a:pt x="33047" y="7247"/>
                    <a:pt x="50544" y="0"/>
                    <a:pt x="68787" y="0"/>
                  </a:cubicBezTo>
                  <a:close/>
                </a:path>
              </a:pathLst>
            </a:custGeom>
            <a:solidFill>
              <a:srgbClr val="0F6DB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610346" cy="1288536"/>
            </a:xfrm>
            <a:prstGeom prst="rect">
              <a:avLst/>
            </a:prstGeom>
          </p:spPr>
          <p:txBody>
            <a:bodyPr lIns="49114" tIns="49114" rIns="49114" bIns="49114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941413" y="4524912"/>
            <a:ext cx="1994616" cy="3453372"/>
            <a:chOff x="0" y="0"/>
            <a:chExt cx="540836" cy="93637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540836" cy="936374"/>
            </a:xfrm>
            <a:custGeom>
              <a:avLst/>
              <a:gdLst/>
              <a:ahLst/>
              <a:cxnLst/>
              <a:rect l="l" t="t" r="r" b="b"/>
              <a:pathLst>
                <a:path w="540836" h="936374">
                  <a:moveTo>
                    <a:pt x="77628" y="0"/>
                  </a:moveTo>
                  <a:lnTo>
                    <a:pt x="463208" y="0"/>
                  </a:lnTo>
                  <a:cubicBezTo>
                    <a:pt x="483796" y="0"/>
                    <a:pt x="503541" y="8179"/>
                    <a:pt x="518099" y="22737"/>
                  </a:cubicBezTo>
                  <a:cubicBezTo>
                    <a:pt x="532657" y="37295"/>
                    <a:pt x="540836" y="57040"/>
                    <a:pt x="540836" y="77628"/>
                  </a:cubicBezTo>
                  <a:lnTo>
                    <a:pt x="540836" y="858746"/>
                  </a:lnTo>
                  <a:cubicBezTo>
                    <a:pt x="540836" y="879335"/>
                    <a:pt x="532657" y="899080"/>
                    <a:pt x="518099" y="913638"/>
                  </a:cubicBezTo>
                  <a:cubicBezTo>
                    <a:pt x="503541" y="928196"/>
                    <a:pt x="483796" y="936374"/>
                    <a:pt x="463208" y="936374"/>
                  </a:cubicBezTo>
                  <a:lnTo>
                    <a:pt x="77628" y="936374"/>
                  </a:lnTo>
                  <a:cubicBezTo>
                    <a:pt x="57040" y="936374"/>
                    <a:pt x="37295" y="928196"/>
                    <a:pt x="22737" y="913638"/>
                  </a:cubicBezTo>
                  <a:cubicBezTo>
                    <a:pt x="8179" y="899080"/>
                    <a:pt x="0" y="879335"/>
                    <a:pt x="0" y="858746"/>
                  </a:cubicBezTo>
                  <a:lnTo>
                    <a:pt x="0" y="77628"/>
                  </a:lnTo>
                  <a:cubicBezTo>
                    <a:pt x="0" y="57040"/>
                    <a:pt x="8179" y="37295"/>
                    <a:pt x="22737" y="22737"/>
                  </a:cubicBezTo>
                  <a:cubicBezTo>
                    <a:pt x="37295" y="8179"/>
                    <a:pt x="57040" y="0"/>
                    <a:pt x="7762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540836" cy="974474"/>
            </a:xfrm>
            <a:prstGeom prst="rect">
              <a:avLst/>
            </a:prstGeom>
          </p:spPr>
          <p:txBody>
            <a:bodyPr lIns="49114" tIns="49114" rIns="49114" bIns="49114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87" name="Freeform 87"/>
          <p:cNvSpPr/>
          <p:nvPr/>
        </p:nvSpPr>
        <p:spPr>
          <a:xfrm>
            <a:off x="11004370" y="4601794"/>
            <a:ext cx="661317" cy="661317"/>
          </a:xfrm>
          <a:custGeom>
            <a:avLst/>
            <a:gdLst/>
            <a:ahLst/>
            <a:cxnLst/>
            <a:rect l="l" t="t" r="r" b="b"/>
            <a:pathLst>
              <a:path w="661317" h="661317">
                <a:moveTo>
                  <a:pt x="0" y="0"/>
                </a:moveTo>
                <a:lnTo>
                  <a:pt x="661318" y="0"/>
                </a:lnTo>
                <a:lnTo>
                  <a:pt x="661318" y="661317"/>
                </a:lnTo>
                <a:lnTo>
                  <a:pt x="0" y="661317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8" name="Group 88"/>
          <p:cNvGrpSpPr/>
          <p:nvPr/>
        </p:nvGrpSpPr>
        <p:grpSpPr>
          <a:xfrm>
            <a:off x="10989645" y="5448150"/>
            <a:ext cx="777259" cy="736085"/>
            <a:chOff x="0" y="0"/>
            <a:chExt cx="812800" cy="769743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769743"/>
            </a:xfrm>
            <a:custGeom>
              <a:avLst/>
              <a:gdLst/>
              <a:ahLst/>
              <a:cxnLst/>
              <a:rect l="l" t="t" r="r" b="b"/>
              <a:pathLst>
                <a:path w="812800" h="769743">
                  <a:moveTo>
                    <a:pt x="229092" y="0"/>
                  </a:moveTo>
                  <a:lnTo>
                    <a:pt x="583708" y="0"/>
                  </a:lnTo>
                  <a:cubicBezTo>
                    <a:pt x="644467" y="0"/>
                    <a:pt x="702737" y="24136"/>
                    <a:pt x="745700" y="67100"/>
                  </a:cubicBezTo>
                  <a:cubicBezTo>
                    <a:pt x="788664" y="110063"/>
                    <a:pt x="812800" y="168333"/>
                    <a:pt x="812800" y="229092"/>
                  </a:cubicBezTo>
                  <a:lnTo>
                    <a:pt x="812800" y="540650"/>
                  </a:lnTo>
                  <a:cubicBezTo>
                    <a:pt x="812800" y="667175"/>
                    <a:pt x="710232" y="769743"/>
                    <a:pt x="583708" y="769743"/>
                  </a:cubicBezTo>
                  <a:lnTo>
                    <a:pt x="229092" y="769743"/>
                  </a:lnTo>
                  <a:cubicBezTo>
                    <a:pt x="168333" y="769743"/>
                    <a:pt x="110063" y="745606"/>
                    <a:pt x="67100" y="702643"/>
                  </a:cubicBezTo>
                  <a:cubicBezTo>
                    <a:pt x="24136" y="659680"/>
                    <a:pt x="0" y="601409"/>
                    <a:pt x="0" y="540650"/>
                  </a:cubicBezTo>
                  <a:lnTo>
                    <a:pt x="0" y="229092"/>
                  </a:lnTo>
                  <a:cubicBezTo>
                    <a:pt x="0" y="168333"/>
                    <a:pt x="24136" y="110063"/>
                    <a:pt x="67100" y="67100"/>
                  </a:cubicBezTo>
                  <a:cubicBezTo>
                    <a:pt x="110063" y="24136"/>
                    <a:pt x="168333" y="0"/>
                    <a:pt x="229092" y="0"/>
                  </a:cubicBezTo>
                  <a:close/>
                </a:path>
              </a:pathLst>
            </a:custGeom>
            <a:blipFill>
              <a:blip r:embed="rId36"/>
              <a:stretch>
                <a:fillRect l="-17207" t="-19992" r="-16328" b="-210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0994397" y="6332266"/>
            <a:ext cx="671291" cy="691441"/>
            <a:chOff x="0" y="0"/>
            <a:chExt cx="812800" cy="837198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12800" cy="837198"/>
            </a:xfrm>
            <a:custGeom>
              <a:avLst/>
              <a:gdLst/>
              <a:ahLst/>
              <a:cxnLst/>
              <a:rect l="l" t="t" r="r" b="b"/>
              <a:pathLst>
                <a:path w="812800" h="837198">
                  <a:moveTo>
                    <a:pt x="265256" y="0"/>
                  </a:moveTo>
                  <a:lnTo>
                    <a:pt x="547544" y="0"/>
                  </a:lnTo>
                  <a:cubicBezTo>
                    <a:pt x="617894" y="0"/>
                    <a:pt x="685363" y="27947"/>
                    <a:pt x="735108" y="77692"/>
                  </a:cubicBezTo>
                  <a:cubicBezTo>
                    <a:pt x="784853" y="127437"/>
                    <a:pt x="812800" y="194906"/>
                    <a:pt x="812800" y="265256"/>
                  </a:cubicBezTo>
                  <a:lnTo>
                    <a:pt x="812800" y="571941"/>
                  </a:lnTo>
                  <a:cubicBezTo>
                    <a:pt x="812800" y="718438"/>
                    <a:pt x="694041" y="837198"/>
                    <a:pt x="547544" y="837198"/>
                  </a:cubicBezTo>
                  <a:lnTo>
                    <a:pt x="265256" y="837198"/>
                  </a:lnTo>
                  <a:cubicBezTo>
                    <a:pt x="194906" y="837198"/>
                    <a:pt x="127437" y="809251"/>
                    <a:pt x="77692" y="759506"/>
                  </a:cubicBezTo>
                  <a:cubicBezTo>
                    <a:pt x="27947" y="709761"/>
                    <a:pt x="0" y="642292"/>
                    <a:pt x="0" y="571941"/>
                  </a:cubicBezTo>
                  <a:lnTo>
                    <a:pt x="0" y="265256"/>
                  </a:lnTo>
                  <a:cubicBezTo>
                    <a:pt x="0" y="194906"/>
                    <a:pt x="27947" y="127437"/>
                    <a:pt x="77692" y="77692"/>
                  </a:cubicBezTo>
                  <a:cubicBezTo>
                    <a:pt x="127437" y="27947"/>
                    <a:pt x="194906" y="0"/>
                    <a:pt x="265256" y="0"/>
                  </a:cubicBezTo>
                  <a:close/>
                </a:path>
              </a:pathLst>
            </a:custGeom>
            <a:blipFill>
              <a:blip r:embed="rId37"/>
              <a:stretch>
                <a:fillRect l="-1500" r="-150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2" name="Freeform 92"/>
          <p:cNvSpPr/>
          <p:nvPr/>
        </p:nvSpPr>
        <p:spPr>
          <a:xfrm>
            <a:off x="10994397" y="7194358"/>
            <a:ext cx="724275" cy="724275"/>
          </a:xfrm>
          <a:custGeom>
            <a:avLst/>
            <a:gdLst/>
            <a:ahLst/>
            <a:cxnLst/>
            <a:rect l="l" t="t" r="r" b="b"/>
            <a:pathLst>
              <a:path w="724275" h="724275">
                <a:moveTo>
                  <a:pt x="0" y="0"/>
                </a:moveTo>
                <a:lnTo>
                  <a:pt x="724275" y="0"/>
                </a:lnTo>
                <a:lnTo>
                  <a:pt x="724275" y="724275"/>
                </a:lnTo>
                <a:lnTo>
                  <a:pt x="0" y="72427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3" name="Group 93"/>
          <p:cNvGrpSpPr/>
          <p:nvPr/>
        </p:nvGrpSpPr>
        <p:grpSpPr>
          <a:xfrm>
            <a:off x="13233586" y="3520809"/>
            <a:ext cx="2267897" cy="4598870"/>
            <a:chOff x="0" y="0"/>
            <a:chExt cx="614935" cy="124697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14935" cy="1246974"/>
            </a:xfrm>
            <a:custGeom>
              <a:avLst/>
              <a:gdLst/>
              <a:ahLst/>
              <a:cxnLst/>
              <a:rect l="l" t="t" r="r" b="b"/>
              <a:pathLst>
                <a:path w="614935" h="1246974">
                  <a:moveTo>
                    <a:pt x="68274" y="0"/>
                  </a:moveTo>
                  <a:lnTo>
                    <a:pt x="546661" y="0"/>
                  </a:lnTo>
                  <a:cubicBezTo>
                    <a:pt x="564769" y="0"/>
                    <a:pt x="582134" y="7193"/>
                    <a:pt x="594938" y="19997"/>
                  </a:cubicBezTo>
                  <a:cubicBezTo>
                    <a:pt x="607742" y="32801"/>
                    <a:pt x="614935" y="50167"/>
                    <a:pt x="614935" y="68274"/>
                  </a:cubicBezTo>
                  <a:lnTo>
                    <a:pt x="614935" y="1178700"/>
                  </a:lnTo>
                  <a:cubicBezTo>
                    <a:pt x="614935" y="1196807"/>
                    <a:pt x="607742" y="1214173"/>
                    <a:pt x="594938" y="1226977"/>
                  </a:cubicBezTo>
                  <a:cubicBezTo>
                    <a:pt x="582134" y="1239780"/>
                    <a:pt x="564769" y="1246974"/>
                    <a:pt x="546661" y="1246974"/>
                  </a:cubicBezTo>
                  <a:lnTo>
                    <a:pt x="68274" y="1246974"/>
                  </a:lnTo>
                  <a:cubicBezTo>
                    <a:pt x="50167" y="1246974"/>
                    <a:pt x="32801" y="1239780"/>
                    <a:pt x="19997" y="1226977"/>
                  </a:cubicBezTo>
                  <a:cubicBezTo>
                    <a:pt x="7193" y="1214173"/>
                    <a:pt x="0" y="1196807"/>
                    <a:pt x="0" y="1178700"/>
                  </a:cubicBezTo>
                  <a:lnTo>
                    <a:pt x="0" y="68274"/>
                  </a:lnTo>
                  <a:cubicBezTo>
                    <a:pt x="0" y="50167"/>
                    <a:pt x="7193" y="32801"/>
                    <a:pt x="19997" y="19997"/>
                  </a:cubicBezTo>
                  <a:cubicBezTo>
                    <a:pt x="32801" y="7193"/>
                    <a:pt x="50167" y="0"/>
                    <a:pt x="68274" y="0"/>
                  </a:cubicBez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614935" cy="1285074"/>
            </a:xfrm>
            <a:prstGeom prst="rect">
              <a:avLst/>
            </a:prstGeom>
          </p:spPr>
          <p:txBody>
            <a:bodyPr lIns="49114" tIns="49114" rIns="49114" bIns="49114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3368087" y="4524912"/>
            <a:ext cx="1994616" cy="3453372"/>
            <a:chOff x="0" y="0"/>
            <a:chExt cx="540836" cy="93637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540836" cy="936374"/>
            </a:xfrm>
            <a:custGeom>
              <a:avLst/>
              <a:gdLst/>
              <a:ahLst/>
              <a:cxnLst/>
              <a:rect l="l" t="t" r="r" b="b"/>
              <a:pathLst>
                <a:path w="540836" h="936374">
                  <a:moveTo>
                    <a:pt x="77628" y="0"/>
                  </a:moveTo>
                  <a:lnTo>
                    <a:pt x="463208" y="0"/>
                  </a:lnTo>
                  <a:cubicBezTo>
                    <a:pt x="483796" y="0"/>
                    <a:pt x="503541" y="8179"/>
                    <a:pt x="518099" y="22737"/>
                  </a:cubicBezTo>
                  <a:cubicBezTo>
                    <a:pt x="532657" y="37295"/>
                    <a:pt x="540836" y="57040"/>
                    <a:pt x="540836" y="77628"/>
                  </a:cubicBezTo>
                  <a:lnTo>
                    <a:pt x="540836" y="858746"/>
                  </a:lnTo>
                  <a:cubicBezTo>
                    <a:pt x="540836" y="879335"/>
                    <a:pt x="532657" y="899080"/>
                    <a:pt x="518099" y="913638"/>
                  </a:cubicBezTo>
                  <a:cubicBezTo>
                    <a:pt x="503541" y="928196"/>
                    <a:pt x="483796" y="936374"/>
                    <a:pt x="463208" y="936374"/>
                  </a:cubicBezTo>
                  <a:lnTo>
                    <a:pt x="77628" y="936374"/>
                  </a:lnTo>
                  <a:cubicBezTo>
                    <a:pt x="57040" y="936374"/>
                    <a:pt x="37295" y="928196"/>
                    <a:pt x="22737" y="913638"/>
                  </a:cubicBezTo>
                  <a:cubicBezTo>
                    <a:pt x="8179" y="899080"/>
                    <a:pt x="0" y="879335"/>
                    <a:pt x="0" y="858746"/>
                  </a:cubicBezTo>
                  <a:lnTo>
                    <a:pt x="0" y="77628"/>
                  </a:lnTo>
                  <a:cubicBezTo>
                    <a:pt x="0" y="57040"/>
                    <a:pt x="8179" y="37295"/>
                    <a:pt x="22737" y="22737"/>
                  </a:cubicBezTo>
                  <a:cubicBezTo>
                    <a:pt x="37295" y="8179"/>
                    <a:pt x="57040" y="0"/>
                    <a:pt x="7762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38100"/>
              <a:ext cx="540836" cy="974474"/>
            </a:xfrm>
            <a:prstGeom prst="rect">
              <a:avLst/>
            </a:prstGeom>
          </p:spPr>
          <p:txBody>
            <a:bodyPr lIns="49114" tIns="49114" rIns="49114" bIns="49114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5658765" y="3508039"/>
            <a:ext cx="2267897" cy="4611639"/>
            <a:chOff x="0" y="0"/>
            <a:chExt cx="614935" cy="1250436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14935" cy="1250436"/>
            </a:xfrm>
            <a:custGeom>
              <a:avLst/>
              <a:gdLst/>
              <a:ahLst/>
              <a:cxnLst/>
              <a:rect l="l" t="t" r="r" b="b"/>
              <a:pathLst>
                <a:path w="614935" h="1250436">
                  <a:moveTo>
                    <a:pt x="68274" y="0"/>
                  </a:moveTo>
                  <a:lnTo>
                    <a:pt x="546661" y="0"/>
                  </a:lnTo>
                  <a:cubicBezTo>
                    <a:pt x="564769" y="0"/>
                    <a:pt x="582134" y="7193"/>
                    <a:pt x="594938" y="19997"/>
                  </a:cubicBezTo>
                  <a:cubicBezTo>
                    <a:pt x="607742" y="32801"/>
                    <a:pt x="614935" y="50167"/>
                    <a:pt x="614935" y="68274"/>
                  </a:cubicBezTo>
                  <a:lnTo>
                    <a:pt x="614935" y="1182162"/>
                  </a:lnTo>
                  <a:cubicBezTo>
                    <a:pt x="614935" y="1200270"/>
                    <a:pt x="607742" y="1217635"/>
                    <a:pt x="594938" y="1230439"/>
                  </a:cubicBezTo>
                  <a:cubicBezTo>
                    <a:pt x="582134" y="1243243"/>
                    <a:pt x="564769" y="1250436"/>
                    <a:pt x="546661" y="1250436"/>
                  </a:cubicBezTo>
                  <a:lnTo>
                    <a:pt x="68274" y="1250436"/>
                  </a:lnTo>
                  <a:cubicBezTo>
                    <a:pt x="50167" y="1250436"/>
                    <a:pt x="32801" y="1243243"/>
                    <a:pt x="19997" y="1230439"/>
                  </a:cubicBezTo>
                  <a:cubicBezTo>
                    <a:pt x="7193" y="1217635"/>
                    <a:pt x="0" y="1200270"/>
                    <a:pt x="0" y="1182162"/>
                  </a:cubicBezTo>
                  <a:lnTo>
                    <a:pt x="0" y="68274"/>
                  </a:lnTo>
                  <a:cubicBezTo>
                    <a:pt x="0" y="50167"/>
                    <a:pt x="7193" y="32801"/>
                    <a:pt x="19997" y="19997"/>
                  </a:cubicBezTo>
                  <a:cubicBezTo>
                    <a:pt x="32801" y="7193"/>
                    <a:pt x="50167" y="0"/>
                    <a:pt x="68274" y="0"/>
                  </a:cubicBez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614935" cy="1288536"/>
            </a:xfrm>
            <a:prstGeom prst="rect">
              <a:avLst/>
            </a:prstGeom>
          </p:spPr>
          <p:txBody>
            <a:bodyPr lIns="49114" tIns="49114" rIns="49114" bIns="49114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5793478" y="4524912"/>
            <a:ext cx="1994616" cy="3453372"/>
            <a:chOff x="0" y="0"/>
            <a:chExt cx="540836" cy="93637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40836" cy="936374"/>
            </a:xfrm>
            <a:custGeom>
              <a:avLst/>
              <a:gdLst/>
              <a:ahLst/>
              <a:cxnLst/>
              <a:rect l="l" t="t" r="r" b="b"/>
              <a:pathLst>
                <a:path w="540836" h="936374">
                  <a:moveTo>
                    <a:pt x="77628" y="0"/>
                  </a:moveTo>
                  <a:lnTo>
                    <a:pt x="463208" y="0"/>
                  </a:lnTo>
                  <a:cubicBezTo>
                    <a:pt x="483796" y="0"/>
                    <a:pt x="503541" y="8179"/>
                    <a:pt x="518099" y="22737"/>
                  </a:cubicBezTo>
                  <a:cubicBezTo>
                    <a:pt x="532657" y="37295"/>
                    <a:pt x="540836" y="57040"/>
                    <a:pt x="540836" y="77628"/>
                  </a:cubicBezTo>
                  <a:lnTo>
                    <a:pt x="540836" y="858746"/>
                  </a:lnTo>
                  <a:cubicBezTo>
                    <a:pt x="540836" y="879335"/>
                    <a:pt x="532657" y="899080"/>
                    <a:pt x="518099" y="913638"/>
                  </a:cubicBezTo>
                  <a:cubicBezTo>
                    <a:pt x="503541" y="928196"/>
                    <a:pt x="483796" y="936374"/>
                    <a:pt x="463208" y="936374"/>
                  </a:cubicBezTo>
                  <a:lnTo>
                    <a:pt x="77628" y="936374"/>
                  </a:lnTo>
                  <a:cubicBezTo>
                    <a:pt x="57040" y="936374"/>
                    <a:pt x="37295" y="928196"/>
                    <a:pt x="22737" y="913638"/>
                  </a:cubicBezTo>
                  <a:cubicBezTo>
                    <a:pt x="8179" y="899080"/>
                    <a:pt x="0" y="879335"/>
                    <a:pt x="0" y="858746"/>
                  </a:cubicBezTo>
                  <a:lnTo>
                    <a:pt x="0" y="77628"/>
                  </a:lnTo>
                  <a:cubicBezTo>
                    <a:pt x="0" y="57040"/>
                    <a:pt x="8179" y="37295"/>
                    <a:pt x="22737" y="22737"/>
                  </a:cubicBezTo>
                  <a:cubicBezTo>
                    <a:pt x="37295" y="8179"/>
                    <a:pt x="57040" y="0"/>
                    <a:pt x="7762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38100"/>
              <a:ext cx="540836" cy="974474"/>
            </a:xfrm>
            <a:prstGeom prst="rect">
              <a:avLst/>
            </a:prstGeom>
          </p:spPr>
          <p:txBody>
            <a:bodyPr lIns="49114" tIns="49114" rIns="49114" bIns="49114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05" name="Freeform 105"/>
          <p:cNvSpPr/>
          <p:nvPr/>
        </p:nvSpPr>
        <p:spPr>
          <a:xfrm>
            <a:off x="13467409" y="4666819"/>
            <a:ext cx="799114" cy="478803"/>
          </a:xfrm>
          <a:custGeom>
            <a:avLst/>
            <a:gdLst/>
            <a:ahLst/>
            <a:cxnLst/>
            <a:rect l="l" t="t" r="r" b="b"/>
            <a:pathLst>
              <a:path w="799114" h="478803">
                <a:moveTo>
                  <a:pt x="0" y="0"/>
                </a:moveTo>
                <a:lnTo>
                  <a:pt x="799115" y="0"/>
                </a:lnTo>
                <a:lnTo>
                  <a:pt x="799115" y="478803"/>
                </a:lnTo>
                <a:lnTo>
                  <a:pt x="0" y="478803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6" name="Freeform 106"/>
          <p:cNvSpPr/>
          <p:nvPr/>
        </p:nvSpPr>
        <p:spPr>
          <a:xfrm>
            <a:off x="13467409" y="7255005"/>
            <a:ext cx="799114" cy="686027"/>
          </a:xfrm>
          <a:custGeom>
            <a:avLst/>
            <a:gdLst/>
            <a:ahLst/>
            <a:cxnLst/>
            <a:rect l="l" t="t" r="r" b="b"/>
            <a:pathLst>
              <a:path w="799114" h="686027">
                <a:moveTo>
                  <a:pt x="0" y="0"/>
                </a:moveTo>
                <a:lnTo>
                  <a:pt x="799115" y="0"/>
                </a:lnTo>
                <a:lnTo>
                  <a:pt x="799115" y="686027"/>
                </a:lnTo>
                <a:lnTo>
                  <a:pt x="0" y="68602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16798" r="-35991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7" name="Group 107"/>
          <p:cNvGrpSpPr/>
          <p:nvPr/>
        </p:nvGrpSpPr>
        <p:grpSpPr>
          <a:xfrm>
            <a:off x="13554972" y="5444284"/>
            <a:ext cx="623988" cy="730699"/>
            <a:chOff x="0" y="0"/>
            <a:chExt cx="521020" cy="610123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521020" cy="610123"/>
            </a:xfrm>
            <a:custGeom>
              <a:avLst/>
              <a:gdLst/>
              <a:ahLst/>
              <a:cxnLst/>
              <a:rect l="l" t="t" r="r" b="b"/>
              <a:pathLst>
                <a:path w="521020" h="610123">
                  <a:moveTo>
                    <a:pt x="260510" y="0"/>
                  </a:moveTo>
                  <a:lnTo>
                    <a:pt x="260510" y="0"/>
                  </a:lnTo>
                  <a:cubicBezTo>
                    <a:pt x="404386" y="0"/>
                    <a:pt x="521020" y="116634"/>
                    <a:pt x="521020" y="260510"/>
                  </a:cubicBezTo>
                  <a:lnTo>
                    <a:pt x="521020" y="349613"/>
                  </a:lnTo>
                  <a:cubicBezTo>
                    <a:pt x="521020" y="493488"/>
                    <a:pt x="404386" y="610123"/>
                    <a:pt x="260510" y="610123"/>
                  </a:cubicBezTo>
                  <a:lnTo>
                    <a:pt x="260510" y="610123"/>
                  </a:lnTo>
                  <a:cubicBezTo>
                    <a:pt x="116634" y="610123"/>
                    <a:pt x="0" y="493488"/>
                    <a:pt x="0" y="349613"/>
                  </a:cubicBezTo>
                  <a:lnTo>
                    <a:pt x="0" y="260510"/>
                  </a:lnTo>
                  <a:cubicBezTo>
                    <a:pt x="0" y="116634"/>
                    <a:pt x="116634" y="0"/>
                    <a:pt x="260510" y="0"/>
                  </a:cubicBezTo>
                  <a:close/>
                </a:path>
              </a:pathLst>
            </a:custGeom>
            <a:blipFill>
              <a:blip r:embed="rId30"/>
              <a:stretch>
                <a:fillRect l="-8550" r="-855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3467409" y="6397029"/>
            <a:ext cx="663685" cy="663685"/>
            <a:chOff x="0" y="0"/>
            <a:chExt cx="812800" cy="8128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1"/>
              <a:stretch>
                <a:fillRect l="-60264" r="-6026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1" name="Freeform 111"/>
          <p:cNvSpPr/>
          <p:nvPr/>
        </p:nvSpPr>
        <p:spPr>
          <a:xfrm>
            <a:off x="16028842" y="7255005"/>
            <a:ext cx="386264" cy="626682"/>
          </a:xfrm>
          <a:custGeom>
            <a:avLst/>
            <a:gdLst/>
            <a:ahLst/>
            <a:cxnLst/>
            <a:rect l="l" t="t" r="r" b="b"/>
            <a:pathLst>
              <a:path w="386264" h="626682">
                <a:moveTo>
                  <a:pt x="0" y="0"/>
                </a:moveTo>
                <a:lnTo>
                  <a:pt x="386264" y="0"/>
                </a:lnTo>
                <a:lnTo>
                  <a:pt x="386264" y="626682"/>
                </a:lnTo>
                <a:lnTo>
                  <a:pt x="0" y="62668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2" name="AutoShape 112"/>
          <p:cNvSpPr/>
          <p:nvPr/>
        </p:nvSpPr>
        <p:spPr>
          <a:xfrm>
            <a:off x="10941413" y="5364797"/>
            <a:ext cx="1994616" cy="0"/>
          </a:xfrm>
          <a:prstGeom prst="line">
            <a:avLst/>
          </a:prstGeom>
          <a:ln w="28575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3" name="AutoShape 113"/>
          <p:cNvSpPr/>
          <p:nvPr/>
        </p:nvSpPr>
        <p:spPr>
          <a:xfrm>
            <a:off x="10941413" y="6286006"/>
            <a:ext cx="1994616" cy="0"/>
          </a:xfrm>
          <a:prstGeom prst="line">
            <a:avLst/>
          </a:prstGeom>
          <a:ln w="28575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4" name="AutoShape 114"/>
          <p:cNvSpPr/>
          <p:nvPr/>
        </p:nvSpPr>
        <p:spPr>
          <a:xfrm>
            <a:off x="10941413" y="7125478"/>
            <a:ext cx="1994616" cy="0"/>
          </a:xfrm>
          <a:prstGeom prst="line">
            <a:avLst/>
          </a:prstGeom>
          <a:ln w="28575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5" name="AutoShape 115"/>
          <p:cNvSpPr/>
          <p:nvPr/>
        </p:nvSpPr>
        <p:spPr>
          <a:xfrm>
            <a:off x="13368087" y="5383300"/>
            <a:ext cx="1994616" cy="0"/>
          </a:xfrm>
          <a:prstGeom prst="line">
            <a:avLst/>
          </a:prstGeom>
          <a:ln w="28575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6" name="AutoShape 116"/>
          <p:cNvSpPr/>
          <p:nvPr/>
        </p:nvSpPr>
        <p:spPr>
          <a:xfrm>
            <a:off x="13370226" y="6286006"/>
            <a:ext cx="1994616" cy="0"/>
          </a:xfrm>
          <a:prstGeom prst="line">
            <a:avLst/>
          </a:prstGeom>
          <a:ln w="28575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7" name="AutoShape 117"/>
          <p:cNvSpPr/>
          <p:nvPr/>
        </p:nvSpPr>
        <p:spPr>
          <a:xfrm>
            <a:off x="13370226" y="7143982"/>
            <a:ext cx="1994616" cy="0"/>
          </a:xfrm>
          <a:prstGeom prst="line">
            <a:avLst/>
          </a:prstGeom>
          <a:ln w="28575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8" name="AutoShape 118"/>
          <p:cNvSpPr/>
          <p:nvPr/>
        </p:nvSpPr>
        <p:spPr>
          <a:xfrm>
            <a:off x="15797544" y="5401804"/>
            <a:ext cx="1994616" cy="0"/>
          </a:xfrm>
          <a:prstGeom prst="line">
            <a:avLst/>
          </a:prstGeom>
          <a:ln w="28575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9" name="AutoShape 119"/>
          <p:cNvSpPr/>
          <p:nvPr/>
        </p:nvSpPr>
        <p:spPr>
          <a:xfrm>
            <a:off x="15797544" y="7143982"/>
            <a:ext cx="1994616" cy="0"/>
          </a:xfrm>
          <a:prstGeom prst="line">
            <a:avLst/>
          </a:prstGeom>
          <a:ln w="28575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AutoShape 120"/>
          <p:cNvSpPr/>
          <p:nvPr/>
        </p:nvSpPr>
        <p:spPr>
          <a:xfrm>
            <a:off x="15797544" y="6286006"/>
            <a:ext cx="1994616" cy="0"/>
          </a:xfrm>
          <a:prstGeom prst="line">
            <a:avLst/>
          </a:prstGeom>
          <a:ln w="28575" cap="flat">
            <a:solidFill>
              <a:srgbClr val="FFF5D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Box 121"/>
          <p:cNvSpPr txBox="1"/>
          <p:nvPr/>
        </p:nvSpPr>
        <p:spPr>
          <a:xfrm>
            <a:off x="16694982" y="6464372"/>
            <a:ext cx="999447" cy="47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"/>
              </a:lnSpc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Admin </a:t>
            </a:r>
          </a:p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Dashboard</a:t>
            </a:r>
          </a:p>
        </p:txBody>
      </p:sp>
      <p:sp>
        <p:nvSpPr>
          <p:cNvPr id="122" name="Freeform 122"/>
          <p:cNvSpPr/>
          <p:nvPr/>
        </p:nvSpPr>
        <p:spPr>
          <a:xfrm>
            <a:off x="15875140" y="6417017"/>
            <a:ext cx="845692" cy="589156"/>
          </a:xfrm>
          <a:custGeom>
            <a:avLst/>
            <a:gdLst/>
            <a:ahLst/>
            <a:cxnLst/>
            <a:rect l="l" t="t" r="r" b="b"/>
            <a:pathLst>
              <a:path w="845692" h="589156">
                <a:moveTo>
                  <a:pt x="0" y="0"/>
                </a:moveTo>
                <a:lnTo>
                  <a:pt x="845693" y="0"/>
                </a:lnTo>
                <a:lnTo>
                  <a:pt x="845693" y="589156"/>
                </a:lnTo>
                <a:lnTo>
                  <a:pt x="0" y="58915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3" name="Freeform 123"/>
          <p:cNvSpPr/>
          <p:nvPr/>
        </p:nvSpPr>
        <p:spPr>
          <a:xfrm>
            <a:off x="15931659" y="4662565"/>
            <a:ext cx="615410" cy="702231"/>
          </a:xfrm>
          <a:custGeom>
            <a:avLst/>
            <a:gdLst/>
            <a:ahLst/>
            <a:cxnLst/>
            <a:rect l="l" t="t" r="r" b="b"/>
            <a:pathLst>
              <a:path w="615410" h="702231">
                <a:moveTo>
                  <a:pt x="0" y="0"/>
                </a:moveTo>
                <a:lnTo>
                  <a:pt x="615410" y="0"/>
                </a:lnTo>
                <a:lnTo>
                  <a:pt x="615410" y="702232"/>
                </a:lnTo>
                <a:lnTo>
                  <a:pt x="0" y="702232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4" name="Freeform 124"/>
          <p:cNvSpPr/>
          <p:nvPr/>
        </p:nvSpPr>
        <p:spPr>
          <a:xfrm>
            <a:off x="15785752" y="5429837"/>
            <a:ext cx="907225" cy="856169"/>
          </a:xfrm>
          <a:custGeom>
            <a:avLst/>
            <a:gdLst/>
            <a:ahLst/>
            <a:cxnLst/>
            <a:rect l="l" t="t" r="r" b="b"/>
            <a:pathLst>
              <a:path w="907225" h="856169">
                <a:moveTo>
                  <a:pt x="0" y="0"/>
                </a:moveTo>
                <a:lnTo>
                  <a:pt x="907225" y="0"/>
                </a:lnTo>
                <a:lnTo>
                  <a:pt x="907225" y="856169"/>
                </a:lnTo>
                <a:lnTo>
                  <a:pt x="0" y="856169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5" name="TextBox 125"/>
          <p:cNvSpPr txBox="1"/>
          <p:nvPr/>
        </p:nvSpPr>
        <p:spPr>
          <a:xfrm>
            <a:off x="11108027" y="3587463"/>
            <a:ext cx="1571210" cy="59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4"/>
              </a:lnSpc>
            </a:pPr>
            <a:r>
              <a:rPr lang="en-US" sz="1845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&amp;</a:t>
            </a:r>
          </a:p>
          <a:p>
            <a:pPr algn="ctr">
              <a:lnSpc>
                <a:spcPts val="2214"/>
              </a:lnSpc>
              <a:spcBef>
                <a:spcPct val="0"/>
              </a:spcBef>
            </a:pPr>
            <a:r>
              <a:rPr lang="en-US" sz="1845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Backend Core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3554665" y="3683653"/>
            <a:ext cx="1664268" cy="59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4"/>
              </a:lnSpc>
            </a:pPr>
            <a:r>
              <a:rPr lang="en-US" sz="1845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Storage &amp;</a:t>
            </a:r>
          </a:p>
          <a:p>
            <a:pPr algn="ctr">
              <a:lnSpc>
                <a:spcPts val="2214"/>
              </a:lnSpc>
              <a:spcBef>
                <a:spcPct val="0"/>
              </a:spcBef>
            </a:pPr>
            <a:r>
              <a:rPr lang="en-US" sz="1845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Deployment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6149182" y="3726242"/>
            <a:ext cx="1353772" cy="59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4"/>
              </a:lnSpc>
            </a:pPr>
            <a:r>
              <a:rPr lang="en-US" sz="1845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Frontend</a:t>
            </a:r>
          </a:p>
          <a:p>
            <a:pPr algn="ctr">
              <a:lnSpc>
                <a:spcPts val="2214"/>
              </a:lnSpc>
              <a:spcBef>
                <a:spcPct val="0"/>
              </a:spcBef>
            </a:pPr>
            <a:r>
              <a:rPr lang="en-US" sz="1845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&amp; APIs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1957728" y="4809778"/>
            <a:ext cx="747994" cy="250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Python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1938721" y="5715003"/>
            <a:ext cx="786009" cy="250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Open CV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1692930" y="6404789"/>
            <a:ext cx="1211618" cy="44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lang="en-US" sz="135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YOLOv8</a:t>
            </a:r>
          </a:p>
          <a:p>
            <a:pPr algn="ctr">
              <a:lnSpc>
                <a:spcPts val="1631"/>
              </a:lnSpc>
              <a:spcBef>
                <a:spcPct val="0"/>
              </a:spcBef>
            </a:pPr>
            <a:r>
              <a:rPr lang="en-US" sz="135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 detection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1827543" y="7170918"/>
            <a:ext cx="1008364" cy="694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"/>
              </a:lnSpc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LSTM Traffic</a:t>
            </a:r>
          </a:p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forecasting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4386799" y="4681831"/>
            <a:ext cx="834817" cy="47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"/>
              </a:lnSpc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AWS </a:t>
            </a:r>
          </a:p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Platform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4354747" y="5603980"/>
            <a:ext cx="825928" cy="47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Mongo DB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4365395" y="6513318"/>
            <a:ext cx="715194" cy="47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V2V / V2I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4332554" y="7340685"/>
            <a:ext cx="1030149" cy="47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"/>
              </a:lnSpc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Sumo</a:t>
            </a:r>
          </a:p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simulation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6886544" y="4855380"/>
            <a:ext cx="720629" cy="250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HTML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6873238" y="5755397"/>
            <a:ext cx="772141" cy="259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4"/>
              </a:lnSpc>
              <a:spcBef>
                <a:spcPct val="0"/>
              </a:spcBef>
            </a:pPr>
            <a:r>
              <a:rPr lang="en-US" sz="1554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JS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16670358" y="7347397"/>
            <a:ext cx="1007169" cy="472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"/>
              </a:lnSpc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Citizen </a:t>
            </a:r>
          </a:p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sz="145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Web App</a:t>
            </a:r>
          </a:p>
        </p:txBody>
      </p:sp>
      <p:sp>
        <p:nvSpPr>
          <p:cNvPr id="139" name="TextBox 52">
            <a:extLst>
              <a:ext uri="{FF2B5EF4-FFF2-40B4-BE49-F238E27FC236}">
                <a16:creationId xmlns:a16="http://schemas.microsoft.com/office/drawing/2014/main" id="{774868B2-CA75-3E20-50A4-4DABB7104705}"/>
              </a:ext>
            </a:extLst>
          </p:cNvPr>
          <p:cNvSpPr txBox="1"/>
          <p:nvPr/>
        </p:nvSpPr>
        <p:spPr>
          <a:xfrm>
            <a:off x="2338757" y="2656241"/>
            <a:ext cx="1207451" cy="63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CCTV</a:t>
            </a:r>
          </a:p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Feeds</a:t>
            </a:r>
          </a:p>
        </p:txBody>
      </p:sp>
      <p:sp>
        <p:nvSpPr>
          <p:cNvPr id="140" name="TextBox 52">
            <a:extLst>
              <a:ext uri="{FF2B5EF4-FFF2-40B4-BE49-F238E27FC236}">
                <a16:creationId xmlns:a16="http://schemas.microsoft.com/office/drawing/2014/main" id="{F10B171D-14D2-2561-EBA0-D79ADF6C7C9F}"/>
              </a:ext>
            </a:extLst>
          </p:cNvPr>
          <p:cNvSpPr txBox="1"/>
          <p:nvPr/>
        </p:nvSpPr>
        <p:spPr>
          <a:xfrm>
            <a:off x="4776626" y="2598568"/>
            <a:ext cx="1207451" cy="63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IOT</a:t>
            </a:r>
          </a:p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Sensors</a:t>
            </a:r>
          </a:p>
        </p:txBody>
      </p:sp>
      <p:sp>
        <p:nvSpPr>
          <p:cNvPr id="141" name="TextBox 52">
            <a:extLst>
              <a:ext uri="{FF2B5EF4-FFF2-40B4-BE49-F238E27FC236}">
                <a16:creationId xmlns:a16="http://schemas.microsoft.com/office/drawing/2014/main" id="{D78C80E4-AAD0-C696-838D-5D95C03179D0}"/>
              </a:ext>
            </a:extLst>
          </p:cNvPr>
          <p:cNvSpPr txBox="1"/>
          <p:nvPr/>
        </p:nvSpPr>
        <p:spPr>
          <a:xfrm>
            <a:off x="7249862" y="2707972"/>
            <a:ext cx="1207451" cy="636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V2V</a:t>
            </a:r>
          </a:p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Devices</a:t>
            </a:r>
          </a:p>
        </p:txBody>
      </p:sp>
      <p:sp>
        <p:nvSpPr>
          <p:cNvPr id="142" name="TextBox 52">
            <a:extLst>
              <a:ext uri="{FF2B5EF4-FFF2-40B4-BE49-F238E27FC236}">
                <a16:creationId xmlns:a16="http://schemas.microsoft.com/office/drawing/2014/main" id="{8C298134-9D3E-B2D5-A609-197794DB8E25}"/>
              </a:ext>
            </a:extLst>
          </p:cNvPr>
          <p:cNvSpPr txBox="1"/>
          <p:nvPr/>
        </p:nvSpPr>
        <p:spPr>
          <a:xfrm>
            <a:off x="9048687" y="2524128"/>
            <a:ext cx="1207451" cy="957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Citizen</a:t>
            </a:r>
          </a:p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</a:t>
            </a:r>
          </a:p>
          <a:p>
            <a:pPr algn="ctr">
              <a:lnSpc>
                <a:spcPts val="2494"/>
              </a:lnSpc>
            </a:pPr>
            <a:r>
              <a:rPr lang="en-US" sz="207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1945600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30"/>
            <a:ext cx="4806000" cy="547688"/>
            <a:chOff x="0" y="0"/>
            <a:chExt cx="64080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4762049" y="85645"/>
            <a:ext cx="3313680" cy="1684302"/>
            <a:chOff x="0" y="0"/>
            <a:chExt cx="4418240" cy="2245736"/>
          </a:xfrm>
        </p:grpSpPr>
        <p:sp>
          <p:nvSpPr>
            <p:cNvPr id="14" name="Freeform 1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5610" y="359319"/>
            <a:ext cx="1915886" cy="1249101"/>
            <a:chOff x="0" y="0"/>
            <a:chExt cx="2554514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25400" y="2540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554514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@XEN!TH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24705" y="2113636"/>
            <a:ext cx="12424493" cy="6772015"/>
            <a:chOff x="0" y="0"/>
            <a:chExt cx="16565991" cy="9029353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1633519"/>
              <a:ext cx="2782388" cy="1022773"/>
              <a:chOff x="0" y="0"/>
              <a:chExt cx="656569" cy="24134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56569" cy="241347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1347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1347"/>
                    </a:lnTo>
                    <a:lnTo>
                      <a:pt x="0" y="241347"/>
                    </a:lnTo>
                    <a:close/>
                  </a:path>
                </a:pathLst>
              </a:custGeom>
              <a:solidFill>
                <a:srgbClr val="FFD9C2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0"/>
                <a:ext cx="656569" cy="241347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Cost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2871154"/>
              <a:ext cx="2782388" cy="1060815"/>
              <a:chOff x="0" y="0"/>
              <a:chExt cx="656569" cy="25032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56569" cy="250324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50324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50324"/>
                    </a:lnTo>
                    <a:lnTo>
                      <a:pt x="0" y="250324"/>
                    </a:lnTo>
                    <a:close/>
                  </a:path>
                </a:pathLst>
              </a:custGeom>
              <a:solidFill>
                <a:srgbClr val="FFD9C2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0"/>
                <a:ext cx="656569" cy="250324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Traffic Prediction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4146831"/>
              <a:ext cx="2782388" cy="1022773"/>
              <a:chOff x="0" y="0"/>
              <a:chExt cx="656569" cy="24134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56569" cy="241347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1347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1347"/>
                    </a:lnTo>
                    <a:lnTo>
                      <a:pt x="0" y="241347"/>
                    </a:lnTo>
                    <a:close/>
                  </a:path>
                </a:pathLst>
              </a:custGeom>
              <a:solidFill>
                <a:srgbClr val="FFD9C2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0"/>
                <a:ext cx="656569" cy="241347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Adaptive Signal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5384466"/>
              <a:ext cx="2782388" cy="1060815"/>
              <a:chOff x="0" y="0"/>
              <a:chExt cx="656569" cy="25032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56569" cy="250324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50324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50324"/>
                    </a:lnTo>
                    <a:lnTo>
                      <a:pt x="0" y="250324"/>
                    </a:lnTo>
                    <a:close/>
                  </a:path>
                </a:pathLst>
              </a:custGeom>
              <a:solidFill>
                <a:srgbClr val="FFD9C2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0"/>
                <a:ext cx="656569" cy="250324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Incident Detection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0" y="6660144"/>
              <a:ext cx="2782388" cy="1060815"/>
              <a:chOff x="0" y="0"/>
              <a:chExt cx="656569" cy="25032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656569" cy="250324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50324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50324"/>
                    </a:lnTo>
                    <a:lnTo>
                      <a:pt x="0" y="250324"/>
                    </a:lnTo>
                    <a:close/>
                  </a:path>
                </a:pathLst>
              </a:custGeom>
              <a:solidFill>
                <a:srgbClr val="FFD9C2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0"/>
                <a:ext cx="656569" cy="250324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Emergency Vehicle  Priority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7954842"/>
              <a:ext cx="2782388" cy="1060815"/>
              <a:chOff x="0" y="0"/>
              <a:chExt cx="656569" cy="25032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56569" cy="250324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50324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50324"/>
                    </a:lnTo>
                    <a:lnTo>
                      <a:pt x="0" y="250324"/>
                    </a:lnTo>
                    <a:close/>
                  </a:path>
                </a:pathLst>
              </a:custGeom>
              <a:solidFill>
                <a:srgbClr val="FFD9C2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0"/>
                <a:ext cx="656569" cy="250324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Citizen / Eco Integeration 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898112" y="1633519"/>
              <a:ext cx="2782388" cy="1033424"/>
              <a:chOff x="0" y="0"/>
              <a:chExt cx="656569" cy="2438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Moderate-High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898112" y="2903262"/>
              <a:ext cx="2782388" cy="1033424"/>
              <a:chOff x="0" y="0"/>
              <a:chExt cx="656569" cy="2438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Partial AI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898112" y="4173005"/>
              <a:ext cx="2782388" cy="1033424"/>
              <a:chOff x="0" y="0"/>
              <a:chExt cx="656569" cy="2438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Limited ML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898112" y="5442748"/>
              <a:ext cx="2782388" cy="1033424"/>
              <a:chOff x="0" y="0"/>
              <a:chExt cx="656569" cy="2438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Partial Camera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5898112" y="6712491"/>
              <a:ext cx="2782388" cy="1033424"/>
              <a:chOff x="0" y="0"/>
              <a:chExt cx="656569" cy="2438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Pilot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5898112" y="7982234"/>
              <a:ext cx="2782388" cy="1033424"/>
              <a:chOff x="0" y="0"/>
              <a:chExt cx="656569" cy="2438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Minimal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2949056" y="1633519"/>
              <a:ext cx="2782388" cy="1033424"/>
              <a:chOff x="0" y="0"/>
              <a:chExt cx="656569" cy="2438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High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2949056" y="2903262"/>
              <a:ext cx="2782388" cy="1033424"/>
              <a:chOff x="0" y="0"/>
              <a:chExt cx="656569" cy="2438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Reactive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2949056" y="4173005"/>
              <a:ext cx="2782388" cy="1033424"/>
              <a:chOff x="0" y="0"/>
              <a:chExt cx="656569" cy="2438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Rule-Based 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2949056" y="5442748"/>
              <a:ext cx="2782388" cy="1033424"/>
              <a:chOff x="0" y="0"/>
              <a:chExt cx="656569" cy="2438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Manual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2949056" y="6712491"/>
              <a:ext cx="2782388" cy="1033424"/>
              <a:chOff x="0" y="0"/>
              <a:chExt cx="656569" cy="2438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Manual / Partial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2949056" y="7982234"/>
              <a:ext cx="2782388" cy="1033424"/>
              <a:chOff x="0" y="0"/>
              <a:chExt cx="656569" cy="24386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Minimal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837849" y="1633519"/>
              <a:ext cx="2782388" cy="1033424"/>
              <a:chOff x="0" y="0"/>
              <a:chExt cx="656569" cy="2438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High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8837849" y="2903262"/>
              <a:ext cx="2782388" cy="1033424"/>
              <a:chOff x="0" y="0"/>
              <a:chExt cx="656569" cy="24386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Pilot AI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837849" y="4173005"/>
              <a:ext cx="2782388" cy="1033424"/>
              <a:chOff x="0" y="0"/>
              <a:chExt cx="656569" cy="24386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AI-assisted pilot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8837849" y="5442748"/>
              <a:ext cx="2782388" cy="1033424"/>
              <a:chOff x="0" y="0"/>
              <a:chExt cx="656569" cy="24386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Limited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8837849" y="6712491"/>
              <a:ext cx="2782388" cy="1033424"/>
              <a:chOff x="0" y="0"/>
              <a:chExt cx="656569" cy="24386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Limited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8837849" y="7982234"/>
              <a:ext cx="2782388" cy="1033424"/>
              <a:chOff x="0" y="0"/>
              <a:chExt cx="656569" cy="24386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656569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243860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0" y="0"/>
                <a:ext cx="656569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None</a:t>
                </a: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11782766" y="1633519"/>
              <a:ext cx="4646650" cy="1033424"/>
              <a:chOff x="0" y="0"/>
              <a:chExt cx="1096485" cy="24386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1096485" cy="243860"/>
              </a:xfrm>
              <a:custGeom>
                <a:avLst/>
                <a:gdLst/>
                <a:ahLst/>
                <a:cxnLst/>
                <a:rect l="l" t="t" r="r" b="b"/>
                <a:pathLst>
                  <a:path w="1096485" h="243860">
                    <a:moveTo>
                      <a:pt x="0" y="0"/>
                    </a:moveTo>
                    <a:lnTo>
                      <a:pt x="1096485" y="0"/>
                    </a:lnTo>
                    <a:lnTo>
                      <a:pt x="1096485" y="243860"/>
                    </a:lnTo>
                    <a:lnTo>
                      <a:pt x="0" y="24386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0" y="0"/>
                <a:ext cx="1096485" cy="243860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Lower / Moderate</a:t>
                </a: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11782766" y="2903262"/>
              <a:ext cx="4646650" cy="1060815"/>
              <a:chOff x="0" y="0"/>
              <a:chExt cx="1096485" cy="250324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1096485" cy="250324"/>
              </a:xfrm>
              <a:custGeom>
                <a:avLst/>
                <a:gdLst/>
                <a:ahLst/>
                <a:cxnLst/>
                <a:rect l="l" t="t" r="r" b="b"/>
                <a:pathLst>
                  <a:path w="1096485" h="250324">
                    <a:moveTo>
                      <a:pt x="0" y="0"/>
                    </a:moveTo>
                    <a:lnTo>
                      <a:pt x="1096485" y="0"/>
                    </a:lnTo>
                    <a:lnTo>
                      <a:pt x="1096485" y="250324"/>
                    </a:lnTo>
                    <a:lnTo>
                      <a:pt x="0" y="25032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0" y="0"/>
                <a:ext cx="1096485" cy="250324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Predictive LSTM (2-4 km ahead)</a:t>
                </a: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11782766" y="4173005"/>
              <a:ext cx="4646650" cy="1060815"/>
              <a:chOff x="0" y="0"/>
              <a:chExt cx="1096485" cy="250324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1096485" cy="250324"/>
              </a:xfrm>
              <a:custGeom>
                <a:avLst/>
                <a:gdLst/>
                <a:ahLst/>
                <a:cxnLst/>
                <a:rect l="l" t="t" r="r" b="b"/>
                <a:pathLst>
                  <a:path w="1096485" h="250324">
                    <a:moveTo>
                      <a:pt x="0" y="0"/>
                    </a:moveTo>
                    <a:lnTo>
                      <a:pt x="1096485" y="0"/>
                    </a:lnTo>
                    <a:lnTo>
                      <a:pt x="1096485" y="250324"/>
                    </a:lnTo>
                    <a:lnTo>
                      <a:pt x="0" y="25032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0" y="0"/>
                <a:ext cx="1096485" cy="250324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ML-optimized , 20-30% throughput  </a:t>
                </a: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11782766" y="5252248"/>
              <a:ext cx="4783225" cy="1441815"/>
              <a:chOff x="0" y="0"/>
              <a:chExt cx="1128713" cy="34023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1096485" cy="340230"/>
              </a:xfrm>
              <a:custGeom>
                <a:avLst/>
                <a:gdLst/>
                <a:ahLst/>
                <a:cxnLst/>
                <a:rect l="l" t="t" r="r" b="b"/>
                <a:pathLst>
                  <a:path w="1096485" h="340230">
                    <a:moveTo>
                      <a:pt x="0" y="0"/>
                    </a:moveTo>
                    <a:lnTo>
                      <a:pt x="1096485" y="0"/>
                    </a:lnTo>
                    <a:lnTo>
                      <a:pt x="1096485" y="340230"/>
                    </a:lnTo>
                    <a:lnTo>
                      <a:pt x="0" y="34023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0" y="25573"/>
                <a:ext cx="1128713" cy="314657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 dirty="0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Automated OpenCV (accident/potholes/violations)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11782766" y="6712491"/>
              <a:ext cx="4646650" cy="1060815"/>
              <a:chOff x="0" y="0"/>
              <a:chExt cx="1096485" cy="250324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1096485" cy="250324"/>
              </a:xfrm>
              <a:custGeom>
                <a:avLst/>
                <a:gdLst/>
                <a:ahLst/>
                <a:cxnLst/>
                <a:rect l="l" t="t" r="r" b="b"/>
                <a:pathLst>
                  <a:path w="1096485" h="250324">
                    <a:moveTo>
                      <a:pt x="0" y="0"/>
                    </a:moveTo>
                    <a:lnTo>
                      <a:pt x="1096485" y="0"/>
                    </a:lnTo>
                    <a:lnTo>
                      <a:pt x="1096485" y="250324"/>
                    </a:lnTo>
                    <a:lnTo>
                      <a:pt x="0" y="25032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0" y="0"/>
                <a:ext cx="1096485" cy="250324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V2V Integration  creates green corridors </a:t>
                </a: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11782766" y="7968538"/>
              <a:ext cx="4646650" cy="1060815"/>
              <a:chOff x="0" y="0"/>
              <a:chExt cx="1096485" cy="250324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1096485" cy="250324"/>
              </a:xfrm>
              <a:custGeom>
                <a:avLst/>
                <a:gdLst/>
                <a:ahLst/>
                <a:cxnLst/>
                <a:rect l="l" t="t" r="r" b="b"/>
                <a:pathLst>
                  <a:path w="1096485" h="250324">
                    <a:moveTo>
                      <a:pt x="0" y="0"/>
                    </a:moveTo>
                    <a:lnTo>
                      <a:pt x="1096485" y="0"/>
                    </a:lnTo>
                    <a:lnTo>
                      <a:pt x="1096485" y="250324"/>
                    </a:lnTo>
                    <a:lnTo>
                      <a:pt x="0" y="25032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0" y="0"/>
                <a:ext cx="1096485" cy="250324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279"/>
                  </a:lnSpc>
                </a:pPr>
                <a:r>
                  <a:rPr lang="en-US" sz="1899" dirty="0">
                    <a:solidFill>
                      <a:srgbClr val="000000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Mobile Reporting + Eco Routing</a:t>
                </a: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0" y="0"/>
              <a:ext cx="2782388" cy="1399636"/>
              <a:chOff x="0" y="0"/>
              <a:chExt cx="656569" cy="330276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656569" cy="330276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330276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330276"/>
                    </a:lnTo>
                    <a:lnTo>
                      <a:pt x="0" y="330276"/>
                    </a:lnTo>
                    <a:close/>
                  </a:path>
                </a:pathLst>
              </a:custGeom>
              <a:solidFill>
                <a:srgbClr val="0F6DB8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0" y="9525"/>
                <a:ext cx="656569" cy="320751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399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Features</a:t>
                </a:r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5898112" y="0"/>
              <a:ext cx="2782388" cy="1399636"/>
              <a:chOff x="0" y="0"/>
              <a:chExt cx="656569" cy="330276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656569" cy="330276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330276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330276"/>
                    </a:lnTo>
                    <a:lnTo>
                      <a:pt x="0" y="330276"/>
                    </a:lnTo>
                    <a:close/>
                  </a:path>
                </a:pathLst>
              </a:custGeom>
              <a:solidFill>
                <a:srgbClr val="0F6DB8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0" y="9525"/>
                <a:ext cx="656569" cy="320751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399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Pune </a:t>
                </a:r>
              </a:p>
              <a:p>
                <a:pPr algn="ctr">
                  <a:lnSpc>
                    <a:spcPts val="2879"/>
                  </a:lnSpc>
                </a:pPr>
                <a:r>
                  <a:rPr lang="en-US" sz="2399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ATMS</a:t>
                </a: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2949056" y="0"/>
              <a:ext cx="2782388" cy="1399636"/>
              <a:chOff x="0" y="0"/>
              <a:chExt cx="656569" cy="330276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656569" cy="330276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330276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330276"/>
                    </a:lnTo>
                    <a:lnTo>
                      <a:pt x="0" y="330276"/>
                    </a:lnTo>
                    <a:close/>
                  </a:path>
                </a:pathLst>
              </a:custGeom>
              <a:solidFill>
                <a:srgbClr val="0F6DB8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0" y="9525"/>
                <a:ext cx="656569" cy="320751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399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Delhi </a:t>
                </a:r>
              </a:p>
              <a:p>
                <a:pPr algn="ctr">
                  <a:lnSpc>
                    <a:spcPts val="2879"/>
                  </a:lnSpc>
                </a:pPr>
                <a:r>
                  <a:rPr lang="en-US" sz="2399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ITMS</a:t>
                </a: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8837849" y="0"/>
              <a:ext cx="2782388" cy="1399636"/>
              <a:chOff x="0" y="0"/>
              <a:chExt cx="656569" cy="330276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656569" cy="330276"/>
              </a:xfrm>
              <a:custGeom>
                <a:avLst/>
                <a:gdLst/>
                <a:ahLst/>
                <a:cxnLst/>
                <a:rect l="l" t="t" r="r" b="b"/>
                <a:pathLst>
                  <a:path w="656569" h="330276">
                    <a:moveTo>
                      <a:pt x="0" y="0"/>
                    </a:moveTo>
                    <a:lnTo>
                      <a:pt x="656569" y="0"/>
                    </a:lnTo>
                    <a:lnTo>
                      <a:pt x="656569" y="330276"/>
                    </a:lnTo>
                    <a:lnTo>
                      <a:pt x="0" y="330276"/>
                    </a:lnTo>
                    <a:close/>
                  </a:path>
                </a:pathLst>
              </a:custGeom>
              <a:solidFill>
                <a:srgbClr val="0F6DB8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0" y="9525"/>
                <a:ext cx="656569" cy="320751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399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Bengaluru BATCS </a:t>
                </a:r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11782766" y="0"/>
              <a:ext cx="4646650" cy="1399636"/>
              <a:chOff x="0" y="0"/>
              <a:chExt cx="1096485" cy="330276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1096485" cy="330276"/>
              </a:xfrm>
              <a:custGeom>
                <a:avLst/>
                <a:gdLst/>
                <a:ahLst/>
                <a:cxnLst/>
                <a:rect l="l" t="t" r="r" b="b"/>
                <a:pathLst>
                  <a:path w="1096485" h="330276">
                    <a:moveTo>
                      <a:pt x="0" y="0"/>
                    </a:moveTo>
                    <a:lnTo>
                      <a:pt x="1096485" y="0"/>
                    </a:lnTo>
                    <a:lnTo>
                      <a:pt x="1096485" y="330276"/>
                    </a:lnTo>
                    <a:lnTo>
                      <a:pt x="0" y="330276"/>
                    </a:lnTo>
                    <a:close/>
                  </a:path>
                </a:pathLst>
              </a:custGeom>
              <a:solidFill>
                <a:srgbClr val="0F6DB8"/>
              </a:solidFill>
              <a:ln w="38100" cap="sq">
                <a:solidFill>
                  <a:srgbClr val="18375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0" y="9525"/>
                <a:ext cx="1096485" cy="320751"/>
              </a:xfrm>
              <a:prstGeom prst="rect">
                <a:avLst/>
              </a:prstGeom>
            </p:spPr>
            <p:txBody>
              <a:bodyPr lIns="42524" tIns="42524" rIns="42524" bIns="42524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399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Marg Sarthi</a:t>
                </a:r>
              </a:p>
            </p:txBody>
          </p:sp>
        </p:grpSp>
      </p:grpSp>
      <p:sp>
        <p:nvSpPr>
          <p:cNvPr id="125" name="Freeform 125"/>
          <p:cNvSpPr/>
          <p:nvPr/>
        </p:nvSpPr>
        <p:spPr>
          <a:xfrm>
            <a:off x="13106400" y="2113636"/>
            <a:ext cx="4789361" cy="3386007"/>
          </a:xfrm>
          <a:custGeom>
            <a:avLst/>
            <a:gdLst/>
            <a:ahLst/>
            <a:cxnLst/>
            <a:rect l="l" t="t" r="r" b="b"/>
            <a:pathLst>
              <a:path w="4789361" h="3386007">
                <a:moveTo>
                  <a:pt x="0" y="0"/>
                </a:moveTo>
                <a:lnTo>
                  <a:pt x="4789361" y="0"/>
                </a:lnTo>
                <a:lnTo>
                  <a:pt x="4789361" y="3386007"/>
                </a:lnTo>
                <a:lnTo>
                  <a:pt x="0" y="33860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672" r="-15052" b="-1037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6" name="Group 126"/>
          <p:cNvGrpSpPr/>
          <p:nvPr/>
        </p:nvGrpSpPr>
        <p:grpSpPr>
          <a:xfrm>
            <a:off x="13106400" y="5728507"/>
            <a:ext cx="4815139" cy="3157143"/>
            <a:chOff x="0" y="0"/>
            <a:chExt cx="1268185" cy="831511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1268185" cy="831511"/>
            </a:xfrm>
            <a:custGeom>
              <a:avLst/>
              <a:gdLst/>
              <a:ahLst/>
              <a:cxnLst/>
              <a:rect l="l" t="t" r="r" b="b"/>
              <a:pathLst>
                <a:path w="1268185" h="831511">
                  <a:moveTo>
                    <a:pt x="0" y="0"/>
                  </a:moveTo>
                  <a:lnTo>
                    <a:pt x="1268185" y="0"/>
                  </a:lnTo>
                  <a:lnTo>
                    <a:pt x="1268185" y="831511"/>
                  </a:lnTo>
                  <a:lnTo>
                    <a:pt x="0" y="831511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0" y="-19050"/>
              <a:ext cx="1268185" cy="850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29" name="TextBox 129"/>
          <p:cNvSpPr txBox="1"/>
          <p:nvPr/>
        </p:nvSpPr>
        <p:spPr>
          <a:xfrm>
            <a:off x="13220540" y="5794918"/>
            <a:ext cx="4586859" cy="295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Emergency Vehicle Priority Device:</a:t>
            </a:r>
          </a:p>
          <a:p>
            <a:pPr algn="l">
              <a:lnSpc>
                <a:spcPts val="2279"/>
              </a:lnSpc>
            </a:pPr>
            <a:endParaRPr lang="en-US" sz="2199" b="1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Arduino + GPS + Button mounted on ambulance</a:t>
            </a: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Sends real-time location &amp; emergency alert</a:t>
            </a: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Vehicles ahead get instant notification to clear path</a:t>
            </a: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Enables green corridor, faster response, low-cost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029200" y="0"/>
            <a:ext cx="8229601" cy="1714500"/>
            <a:chOff x="0" y="0"/>
            <a:chExt cx="10972801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1" cy="2286000"/>
            </a:xfrm>
            <a:custGeom>
              <a:avLst/>
              <a:gdLst/>
              <a:ahLst/>
              <a:cxnLst/>
              <a:rect l="l" t="t" r="r" b="b"/>
              <a:pathLst>
                <a:path w="10972801" h="2286000">
                  <a:moveTo>
                    <a:pt x="0" y="0"/>
                  </a:moveTo>
                  <a:lnTo>
                    <a:pt x="10972801" y="0"/>
                  </a:lnTo>
                  <a:lnTo>
                    <a:pt x="10972801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0972801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30"/>
            <a:ext cx="4806000" cy="547688"/>
            <a:chOff x="0" y="0"/>
            <a:chExt cx="64080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4974320" y="0"/>
            <a:ext cx="3313680" cy="1684302"/>
            <a:chOff x="0" y="0"/>
            <a:chExt cx="4418240" cy="2245736"/>
          </a:xfrm>
        </p:grpSpPr>
        <p:sp>
          <p:nvSpPr>
            <p:cNvPr id="14" name="Freeform 1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5610" y="359319"/>
            <a:ext cx="1915886" cy="1249101"/>
            <a:chOff x="0" y="0"/>
            <a:chExt cx="2554514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25400" y="2540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554514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@XEN!TH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5610" y="1314170"/>
            <a:ext cx="9754645" cy="8217966"/>
            <a:chOff x="0" y="-47625"/>
            <a:chExt cx="752115" cy="633632"/>
          </a:xfrm>
        </p:grpSpPr>
        <p:sp>
          <p:nvSpPr>
            <p:cNvPr id="20" name="Freeform 20"/>
            <p:cNvSpPr/>
            <p:nvPr/>
          </p:nvSpPr>
          <p:spPr>
            <a:xfrm>
              <a:off x="0" y="-15461"/>
              <a:ext cx="752115" cy="586007"/>
            </a:xfrm>
            <a:custGeom>
              <a:avLst/>
              <a:gdLst/>
              <a:ahLst/>
              <a:cxnLst/>
              <a:rect l="l" t="t" r="r" b="b"/>
              <a:pathLst>
                <a:path w="752115" h="586007">
                  <a:moveTo>
                    <a:pt x="0" y="0"/>
                  </a:moveTo>
                  <a:lnTo>
                    <a:pt x="752115" y="0"/>
                  </a:lnTo>
                  <a:lnTo>
                    <a:pt x="752115" y="586007"/>
                  </a:lnTo>
                  <a:lnTo>
                    <a:pt x="0" y="586007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8375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52115" cy="633632"/>
            </a:xfrm>
            <a:prstGeom prst="rect">
              <a:avLst/>
            </a:prstGeom>
          </p:spPr>
          <p:txBody>
            <a:bodyPr lIns="51460" tIns="51460" rIns="51460" bIns="5146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dirty="0"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Traffic Efficiency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Average commute time reduced by 12–15% (validated using SUMO simulations).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Signal waiting time cut by 20–25% with adaptive signals.</a:t>
              </a:r>
            </a:p>
            <a:p>
              <a:pPr algn="l">
                <a:lnSpc>
                  <a:spcPts val="2639"/>
                </a:lnSpc>
              </a:pPr>
              <a:endParaRPr lang="en-US" sz="2199" dirty="0"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2639"/>
                </a:lnSpc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 </a:t>
              </a:r>
              <a:r>
                <a:rPr lang="en-US" sz="2199" b="1" dirty="0"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Emergency Response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Ambulance clearance time improved by 25–30% with V2V-based green corridors.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Potential to save hundreds of lives annually in metro cities.</a:t>
              </a:r>
            </a:p>
            <a:p>
              <a:pPr algn="l">
                <a:lnSpc>
                  <a:spcPts val="2639"/>
                </a:lnSpc>
              </a:pPr>
              <a:endParaRPr lang="en-US" sz="2199" dirty="0"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2639"/>
                </a:lnSpc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 </a:t>
              </a:r>
              <a:r>
                <a:rPr lang="en-US" sz="2199" b="1" dirty="0"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Road Safety &amp; Maintenance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Violation detection improved by 40% vs manual enforcement.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Citizen reports enable pothole/blockage resolution 2× faster than current systems.</a:t>
              </a:r>
            </a:p>
            <a:p>
              <a:pPr algn="l">
                <a:lnSpc>
                  <a:spcPts val="2639"/>
                </a:lnSpc>
              </a:pPr>
              <a:endParaRPr lang="en-US" sz="2199" dirty="0"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2639"/>
                </a:lnSpc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 </a:t>
              </a:r>
              <a:r>
                <a:rPr lang="en-US" sz="2199" b="1" dirty="0"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Environmental Benefits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Fuel wastage from idling reduced by 10%, saving crores annually.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CO₂ emissions cut by 8–12% in pilot simulations.</a:t>
              </a:r>
            </a:p>
            <a:p>
              <a:pPr algn="l">
                <a:lnSpc>
                  <a:spcPts val="2639"/>
                </a:lnSpc>
              </a:pPr>
              <a:endParaRPr lang="en-US" sz="2199" dirty="0"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2639"/>
                </a:lnSpc>
              </a:pPr>
              <a:r>
                <a:rPr lang="en-US" sz="2199" b="1" dirty="0"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Citizen Engagement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Expected &gt;70% resolution rate for citizen-reported issues.</a:t>
              </a:r>
            </a:p>
            <a:p>
              <a:pPr marL="474978" lvl="1" indent="-237489" algn="l">
                <a:lnSpc>
                  <a:spcPts val="2639"/>
                </a:lnSpc>
                <a:buFont typeface="Arial"/>
                <a:buChar char="•"/>
              </a:pPr>
              <a:r>
                <a:rPr lang="en-US" sz="2199" dirty="0">
                  <a:latin typeface="Times New Roman MT"/>
                  <a:ea typeface="Times New Roman MT"/>
                  <a:cs typeface="Times New Roman MT"/>
                  <a:sym typeface="Times New Roman MT"/>
                </a:rPr>
                <a:t>Gamification can increase safe-driving participation by 15–20%</a:t>
              </a:r>
            </a:p>
          </p:txBody>
        </p: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1914" y="1287015"/>
            <a:ext cx="9102343" cy="85661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2"/>
          <p:cNvGrpSpPr/>
          <p:nvPr/>
        </p:nvGrpSpPr>
        <p:grpSpPr>
          <a:xfrm>
            <a:off x="11354266" y="1555651"/>
            <a:ext cx="7096825" cy="5197768"/>
            <a:chOff x="-4805" y="-38100"/>
            <a:chExt cx="1302498" cy="2054911"/>
          </a:xfrm>
        </p:grpSpPr>
        <p:sp>
          <p:nvSpPr>
            <p:cNvPr id="33" name="Freeform 33"/>
            <p:cNvSpPr/>
            <p:nvPr/>
          </p:nvSpPr>
          <p:spPr>
            <a:xfrm>
              <a:off x="-4805" y="23531"/>
              <a:ext cx="1243562" cy="1993280"/>
            </a:xfrm>
            <a:custGeom>
              <a:avLst/>
              <a:gdLst/>
              <a:ahLst/>
              <a:cxnLst/>
              <a:rect l="l" t="t" r="r" b="b"/>
              <a:pathLst>
                <a:path w="1297693" h="1993280">
                  <a:moveTo>
                    <a:pt x="0" y="0"/>
                  </a:moveTo>
                  <a:lnTo>
                    <a:pt x="1297693" y="0"/>
                  </a:lnTo>
                  <a:lnTo>
                    <a:pt x="1297693" y="1993280"/>
                  </a:lnTo>
                  <a:lnTo>
                    <a:pt x="0" y="19932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97693" cy="2031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728534" y="0"/>
            <a:ext cx="11293533" cy="1714500"/>
            <a:chOff x="0" y="0"/>
            <a:chExt cx="15058044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58044" cy="2286000"/>
            </a:xfrm>
            <a:custGeom>
              <a:avLst/>
              <a:gdLst/>
              <a:ahLst/>
              <a:cxnLst/>
              <a:rect l="l" t="t" r="r" b="b"/>
              <a:pathLst>
                <a:path w="15058044" h="2286000">
                  <a:moveTo>
                    <a:pt x="0" y="0"/>
                  </a:moveTo>
                  <a:lnTo>
                    <a:pt x="15058044" y="0"/>
                  </a:lnTo>
                  <a:lnTo>
                    <a:pt x="15058044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5058044" cy="2390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30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30"/>
            <a:ext cx="4806000" cy="547688"/>
            <a:chOff x="0" y="0"/>
            <a:chExt cx="64080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4974319" y="0"/>
            <a:ext cx="3313680" cy="1684302"/>
            <a:chOff x="0" y="0"/>
            <a:chExt cx="4418240" cy="2245736"/>
          </a:xfrm>
        </p:grpSpPr>
        <p:sp>
          <p:nvSpPr>
            <p:cNvPr id="14" name="Freeform 1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5610" y="359319"/>
            <a:ext cx="1915886" cy="1249101"/>
            <a:chOff x="0" y="0"/>
            <a:chExt cx="2554514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25400" y="25400"/>
              <a:ext cx="2503678" cy="1614678"/>
            </a:xfrm>
            <a:custGeom>
              <a:avLst/>
              <a:gdLst/>
              <a:ahLst/>
              <a:cxnLst/>
              <a:rect l="l" t="t" r="r" b="b"/>
              <a:pathLst>
                <a:path w="2503678" h="1614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554514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@XEN!TH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222061" y="1715414"/>
            <a:ext cx="11394276" cy="7568236"/>
            <a:chOff x="-230357" y="0"/>
            <a:chExt cx="17654193" cy="10090982"/>
          </a:xfrm>
        </p:grpSpPr>
        <p:grpSp>
          <p:nvGrpSpPr>
            <p:cNvPr id="20" name="Group 20"/>
            <p:cNvGrpSpPr/>
            <p:nvPr/>
          </p:nvGrpSpPr>
          <p:grpSpPr>
            <a:xfrm>
              <a:off x="307640" y="4959348"/>
              <a:ext cx="17116196" cy="5131634"/>
              <a:chOff x="0" y="0"/>
              <a:chExt cx="3380977" cy="101365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380977" cy="1013656"/>
              </a:xfrm>
              <a:custGeom>
                <a:avLst/>
                <a:gdLst/>
                <a:ahLst/>
                <a:cxnLst/>
                <a:rect l="l" t="t" r="r" b="b"/>
                <a:pathLst>
                  <a:path w="3380977" h="1013656">
                    <a:moveTo>
                      <a:pt x="0" y="0"/>
                    </a:moveTo>
                    <a:lnTo>
                      <a:pt x="3380977" y="0"/>
                    </a:lnTo>
                    <a:lnTo>
                      <a:pt x="3380977" y="1013656"/>
                    </a:lnTo>
                    <a:lnTo>
                      <a:pt x="0" y="101365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0"/>
                <a:ext cx="3380977" cy="10136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79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578596" y="5435047"/>
              <a:ext cx="6942050" cy="4483555"/>
            </a:xfrm>
            <a:custGeom>
              <a:avLst/>
              <a:gdLst/>
              <a:ahLst/>
              <a:cxnLst/>
              <a:rect l="l" t="t" r="r" b="b"/>
              <a:pathLst>
                <a:path w="6942050" h="4483555">
                  <a:moveTo>
                    <a:pt x="0" y="0"/>
                  </a:moveTo>
                  <a:lnTo>
                    <a:pt x="6942050" y="0"/>
                  </a:lnTo>
                  <a:lnTo>
                    <a:pt x="6942050" y="4483555"/>
                  </a:lnTo>
                  <a:lnTo>
                    <a:pt x="0" y="448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17" t="-9653" r="-7934" b="-1930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72442" y="5426491"/>
              <a:ext cx="9080438" cy="4483555"/>
            </a:xfrm>
            <a:custGeom>
              <a:avLst/>
              <a:gdLst/>
              <a:ahLst/>
              <a:cxnLst/>
              <a:rect l="l" t="t" r="r" b="b"/>
              <a:pathLst>
                <a:path w="9080438" h="4483555">
                  <a:moveTo>
                    <a:pt x="0" y="0"/>
                  </a:moveTo>
                  <a:lnTo>
                    <a:pt x="9080438" y="0"/>
                  </a:lnTo>
                  <a:lnTo>
                    <a:pt x="9080438" y="4483555"/>
                  </a:lnTo>
                  <a:lnTo>
                    <a:pt x="0" y="448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7638" y="5066480"/>
              <a:ext cx="5448777" cy="3868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79"/>
                </a:lnSpc>
                <a:spcBef>
                  <a:spcPct val="0"/>
                </a:spcBef>
              </a:pPr>
              <a:r>
                <a:rPr lang="en-US" sz="1899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V2V DEVICE SIMULATION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307640" y="0"/>
              <a:ext cx="17116196" cy="5045397"/>
              <a:chOff x="0" y="0"/>
              <a:chExt cx="3380977" cy="99662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3380977" cy="979625"/>
              </a:xfrm>
              <a:custGeom>
                <a:avLst/>
                <a:gdLst/>
                <a:ahLst/>
                <a:cxnLst/>
                <a:rect l="l" t="t" r="r" b="b"/>
                <a:pathLst>
                  <a:path w="3380977" h="996622">
                    <a:moveTo>
                      <a:pt x="0" y="0"/>
                    </a:moveTo>
                    <a:lnTo>
                      <a:pt x="3380977" y="0"/>
                    </a:lnTo>
                    <a:lnTo>
                      <a:pt x="3380977" y="996622"/>
                    </a:lnTo>
                    <a:lnTo>
                      <a:pt x="0" y="99662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0"/>
                <a:ext cx="3380977" cy="9966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79"/>
                  </a:lnSpc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578596" y="496350"/>
              <a:ext cx="8598601" cy="4320541"/>
            </a:xfrm>
            <a:custGeom>
              <a:avLst/>
              <a:gdLst/>
              <a:ahLst/>
              <a:cxnLst/>
              <a:rect l="l" t="t" r="r" b="b"/>
              <a:pathLst>
                <a:path w="8598601" h="4320541">
                  <a:moveTo>
                    <a:pt x="0" y="0"/>
                  </a:moveTo>
                  <a:lnTo>
                    <a:pt x="8598601" y="0"/>
                  </a:lnTo>
                  <a:lnTo>
                    <a:pt x="8598601" y="4320541"/>
                  </a:lnTo>
                  <a:lnTo>
                    <a:pt x="0" y="4320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1487" b="-1777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9545027" y="519051"/>
              <a:ext cx="7607853" cy="4297840"/>
            </a:xfrm>
            <a:custGeom>
              <a:avLst/>
              <a:gdLst/>
              <a:ahLst/>
              <a:cxnLst/>
              <a:rect l="l" t="t" r="r" b="b"/>
              <a:pathLst>
                <a:path w="7607853" h="4297840">
                  <a:moveTo>
                    <a:pt x="0" y="0"/>
                  </a:moveTo>
                  <a:lnTo>
                    <a:pt x="7607853" y="0"/>
                  </a:lnTo>
                  <a:lnTo>
                    <a:pt x="7607853" y="4297840"/>
                  </a:lnTo>
                  <a:lnTo>
                    <a:pt x="0" y="429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-230357" y="98949"/>
              <a:ext cx="10521400" cy="3868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79"/>
                </a:lnSpc>
                <a:spcBef>
                  <a:spcPct val="0"/>
                </a:spcBef>
              </a:pPr>
              <a:r>
                <a:rPr lang="en-US" sz="1899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REAL TIME TRAFFIC DETCTION SIMULATION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399684" y="2204236"/>
            <a:ext cx="6954350" cy="3290170"/>
            <a:chOff x="-102140" y="-7582"/>
            <a:chExt cx="6033868" cy="6629950"/>
          </a:xfrm>
        </p:grpSpPr>
        <p:sp>
          <p:nvSpPr>
            <p:cNvPr id="36" name="TextBox 36"/>
            <p:cNvSpPr txBox="1"/>
            <p:nvPr/>
          </p:nvSpPr>
          <p:spPr>
            <a:xfrm>
              <a:off x="-102140" y="6080415"/>
              <a:ext cx="5997417" cy="541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6"/>
                </a:lnSpc>
                <a:spcBef>
                  <a:spcPct val="0"/>
                </a:spcBef>
              </a:pPr>
              <a:r>
                <a:rPr lang="en-US" sz="1313" u="sng" dirty="0">
                  <a:solidFill>
                    <a:srgbClr val="004AA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8" tooltip="https://blog.goodvisionlive.com/6-smart-cities-that-get-traffic-control-right"/>
                </a:rPr>
                <a:t>https://blog.goodvisionlive.com/6-smart-cities-that-get-traffic-control-rightxt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-87667" y="5580134"/>
              <a:ext cx="5997417" cy="541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6"/>
                </a:lnSpc>
                <a:spcBef>
                  <a:spcPct val="0"/>
                </a:spcBef>
              </a:pPr>
              <a:r>
                <a:rPr lang="en-US" sz="1313" u="sng" dirty="0">
                  <a:solidFill>
                    <a:srgbClr val="004AA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9" tooltip="https://www.weforum.org/stories/2014/07/seven-ways-cities-around-world-tackling-traffic/"/>
                </a:rPr>
                <a:t>https://www.weforum.org/stories/2014/07/seven-ways-cities-around-world-tackling-traffic/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-77295" y="4169120"/>
              <a:ext cx="5997417" cy="798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6"/>
                </a:lnSpc>
                <a:spcBef>
                  <a:spcPct val="0"/>
                </a:spcBef>
              </a:pPr>
              <a:r>
                <a:rPr lang="en-US" sz="1313" u="sng" dirty="0">
                  <a:solidFill>
                    <a:srgbClr val="004AA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10" tooltip="https://timesofindia.indiatimes.com/city/hyderabad/no-end-in-sight-to-traffic-chaos-as-hyderabad-vehicle-count-nears-90-lakh/articleshow/123606999.cms"/>
                </a:rPr>
                <a:t>https://timesofindia.indiatimes.com/city/hyderabad/no-end-in-sight-to-traffic-chaos-as-hyderabad-vehicle-count-nears-90-lakh/articleshow/123606999.cms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-77295" y="5061571"/>
              <a:ext cx="5997417" cy="2952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6"/>
                </a:lnSpc>
                <a:spcBef>
                  <a:spcPct val="0"/>
                </a:spcBef>
              </a:pPr>
              <a:r>
                <a:rPr lang="en-US" sz="1313" u="sng" dirty="0">
                  <a:solidFill>
                    <a:srgbClr val="004AA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11" tooltip="https://pmc.ncbi.nlm.nih.gov/articles/PMC8348605/"/>
                </a:rPr>
                <a:t>https://pmc.ncbi.nlm.nih.gov/articles/PMC8348605/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-77295" y="3387124"/>
              <a:ext cx="5997417" cy="798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6"/>
                </a:lnSpc>
                <a:spcBef>
                  <a:spcPct val="0"/>
                </a:spcBef>
              </a:pPr>
              <a:r>
                <a:rPr lang="en-US" sz="1313" u="sng" dirty="0">
                  <a:solidFill>
                    <a:srgbClr val="004AA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12" tooltip="https://crowplatform.com/wp-content/uploads/2024/04/D742_CROW_Document-iTLC-in-Sump_web-gecomprimeerd_1.pdf"/>
                </a:rPr>
                <a:t>https://crowplatform.com/wp-content/uploads/2024/04/D742_CROW_Document-iTLC-in-Sump_web-gecomprimeerd_1.pdf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-87667" y="2845171"/>
              <a:ext cx="5997417" cy="541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6"/>
                </a:lnSpc>
                <a:spcBef>
                  <a:spcPct val="0"/>
                </a:spcBef>
              </a:pPr>
              <a:r>
                <a:rPr lang="en-US" sz="1313" u="sng" dirty="0">
                  <a:solidFill>
                    <a:srgbClr val="004AA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13" tooltip="https://pure.rug.nl/ws/portalfiles/portal/50468219/1_s2.0_S0968090X17302681_main.pdf"/>
                </a:rPr>
                <a:t>https://pure.rug.nl/ws/portalfiles/portal/50468219/1_s2.0_S0968090X17302681_main.pdf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-65689" y="1978909"/>
              <a:ext cx="5997417" cy="541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6"/>
                </a:lnSpc>
                <a:spcBef>
                  <a:spcPct val="0"/>
                </a:spcBef>
              </a:pPr>
              <a:r>
                <a:rPr lang="en-US" sz="1313" u="sng" dirty="0">
                  <a:solidFill>
                    <a:srgbClr val="004AA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14" tooltip="https://bangaloremirror.indiatimes.com/bangalore/civic/stuck-in-the-traffic-heres-why/articleshow/117377844.cms"/>
                </a:rPr>
                <a:t>https://bangaloremirror.indiatimes.com/bangalore/civic/stuck-in-the-traffic-heres-why/articleshow/117377844.cms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-84788" y="1489228"/>
              <a:ext cx="5997417" cy="541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6"/>
                </a:lnSpc>
                <a:spcBef>
                  <a:spcPct val="0"/>
                </a:spcBef>
              </a:pPr>
              <a:r>
                <a:rPr lang="en-US" sz="1313" u="sng" dirty="0">
                  <a:solidFill>
                    <a:srgbClr val="004AA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15" tooltip="https://www.sciencedirect.com/science/article/pii/S2772586325000048"/>
                </a:rPr>
                <a:t>https://www.sciencedirect.com/science/article/pii/S2772586325000048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-65689" y="-7582"/>
              <a:ext cx="5997417" cy="541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6"/>
                </a:lnSpc>
                <a:spcBef>
                  <a:spcPct val="0"/>
                </a:spcBef>
              </a:pPr>
              <a:r>
                <a:rPr lang="en-US" sz="1313" u="sng" dirty="0">
                  <a:solidFill>
                    <a:srgbClr val="004AA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16" tooltip="https://www.newindianexpress.com/cities/delhi/2024/Nov/18/bumper-to-bumper-in-delhi"/>
                </a:rPr>
                <a:t>https://www.newindianexpress.com/cities/delhi/2024/Nov/18/bumper-to-bumper-in-delhi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-65689" y="534371"/>
              <a:ext cx="5997417" cy="798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6"/>
                </a:lnSpc>
                <a:spcBef>
                  <a:spcPct val="0"/>
                </a:spcBef>
              </a:pPr>
              <a:r>
                <a:rPr lang="en-US" sz="1313" u="sng" dirty="0">
                  <a:solidFill>
                    <a:srgbClr val="004AAD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17" tooltip="https://www.downtoearth.org.in/air/how-india-moves-planned-bhubaneswaris-growing-in-an-unplanned-fashion-but-there-is-room-for-improvement"/>
                </a:rPr>
                <a:t>https://www.downtoearth.org.in/air/how-india-moves-planned-bhubaneswaris-growing-in-an-unplanned-fashion-but-there-is-room-for-improvement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428319" y="1908112"/>
            <a:ext cx="129619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 dirty="0"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17" tooltip="https://www.downtoearth.org.in/air/how-india-moves-planned-bhubaneswaris-growing-in-an-unplanned-fashion-but-there-is-room-for-improv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41696" y="5521643"/>
            <a:ext cx="272359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727"/>
              </a:lnSpc>
            </a:pPr>
            <a:r>
              <a:rPr lang="en-US" sz="143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FOR FURTHER </a:t>
            </a:r>
          </a:p>
          <a:p>
            <a:pPr algn="just">
              <a:lnSpc>
                <a:spcPts val="1727"/>
              </a:lnSpc>
              <a:spcBef>
                <a:spcPct val="0"/>
              </a:spcBef>
            </a:pPr>
            <a:r>
              <a:rPr lang="en-US" sz="143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RESEARCH CLICK BELOW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16296" y="6049705"/>
            <a:ext cx="638117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20"/>
              </a:lnSpc>
              <a:spcBef>
                <a:spcPct val="0"/>
              </a:spcBef>
            </a:pPr>
            <a:r>
              <a:rPr lang="en-US" sz="1350" u="sng" dirty="0">
                <a:solidFill>
                  <a:srgbClr val="004AAD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18" tooltip="https://drive.google.com/drive/folders/1CPMhk5GDlRxFjV0bizzQBii81tHvX7CX?usp=sharing"/>
              </a:rPr>
              <a:t>https://drive.google.com/drive/folders/1CPMhk5GDlRxFjV0bizzQBii81tHvX7CX?usp=sharing</a:t>
            </a:r>
          </a:p>
        </p:txBody>
      </p:sp>
      <p:grpSp>
        <p:nvGrpSpPr>
          <p:cNvPr id="49" name="Group 32">
            <a:extLst>
              <a:ext uri="{FF2B5EF4-FFF2-40B4-BE49-F238E27FC236}">
                <a16:creationId xmlns:a16="http://schemas.microsoft.com/office/drawing/2014/main" id="{73993610-E125-B6B0-D21B-E929D9592144}"/>
              </a:ext>
            </a:extLst>
          </p:cNvPr>
          <p:cNvGrpSpPr/>
          <p:nvPr/>
        </p:nvGrpSpPr>
        <p:grpSpPr>
          <a:xfrm>
            <a:off x="11347092" y="6818710"/>
            <a:ext cx="7096427" cy="2466674"/>
            <a:chOff x="-4732" y="-38100"/>
            <a:chExt cx="1302425" cy="2044193"/>
          </a:xfrm>
        </p:grpSpPr>
        <p:sp>
          <p:nvSpPr>
            <p:cNvPr id="50" name="Freeform 33">
              <a:extLst>
                <a:ext uri="{FF2B5EF4-FFF2-40B4-BE49-F238E27FC236}">
                  <a16:creationId xmlns:a16="http://schemas.microsoft.com/office/drawing/2014/main" id="{E713AE57-AB1E-4FDE-E7B3-7D43E461DF8B}"/>
                </a:ext>
              </a:extLst>
            </p:cNvPr>
            <p:cNvSpPr/>
            <p:nvPr/>
          </p:nvSpPr>
          <p:spPr>
            <a:xfrm>
              <a:off x="-4732" y="12813"/>
              <a:ext cx="1243562" cy="1993280"/>
            </a:xfrm>
            <a:custGeom>
              <a:avLst/>
              <a:gdLst/>
              <a:ahLst/>
              <a:cxnLst/>
              <a:rect l="l" t="t" r="r" b="b"/>
              <a:pathLst>
                <a:path w="1297693" h="1993280">
                  <a:moveTo>
                    <a:pt x="0" y="0"/>
                  </a:moveTo>
                  <a:lnTo>
                    <a:pt x="1297693" y="0"/>
                  </a:lnTo>
                  <a:lnTo>
                    <a:pt x="1297693" y="1993280"/>
                  </a:lnTo>
                  <a:lnTo>
                    <a:pt x="0" y="19932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1" name="TextBox 34">
              <a:extLst>
                <a:ext uri="{FF2B5EF4-FFF2-40B4-BE49-F238E27FC236}">
                  <a16:creationId xmlns:a16="http://schemas.microsoft.com/office/drawing/2014/main" id="{AA1D1905-06FB-B159-6D8B-DD3448E2D843}"/>
                </a:ext>
              </a:extLst>
            </p:cNvPr>
            <p:cNvSpPr txBox="1"/>
            <p:nvPr/>
          </p:nvSpPr>
          <p:spPr>
            <a:xfrm>
              <a:off x="0" y="-38100"/>
              <a:ext cx="1297693" cy="2031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9"/>
                </a:lnSpc>
              </a:pPr>
              <a:endParaRPr/>
            </a:p>
          </p:txBody>
        </p:sp>
      </p:grpSp>
      <p:sp>
        <p:nvSpPr>
          <p:cNvPr id="55" name="TextBox 46">
            <a:extLst>
              <a:ext uri="{FF2B5EF4-FFF2-40B4-BE49-F238E27FC236}">
                <a16:creationId xmlns:a16="http://schemas.microsoft.com/office/drawing/2014/main" id="{0A42EE7A-8EA6-7234-063C-F8125126EC6C}"/>
              </a:ext>
            </a:extLst>
          </p:cNvPr>
          <p:cNvSpPr txBox="1"/>
          <p:nvPr/>
        </p:nvSpPr>
        <p:spPr>
          <a:xfrm>
            <a:off x="11441696" y="7017085"/>
            <a:ext cx="2731504" cy="260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2400" b="1" dirty="0"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17" tooltip="https://www.downtoearth.org.in/air/how-india-moves-planned-bhubaneswaris-growing-in-an-unplanned-fashion-but-there-is-room-for-improv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</a:t>
            </a:r>
            <a:r>
              <a:rPr lang="en-US" sz="1500" b="1" dirty="0"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17" tooltip="https://www.downtoearth.org.in/air/how-india-moves-planned-bhubaneswaris-growing-in-an-unplanned-fashion-but-there-is-room-for-improv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400" b="1" dirty="0"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17" tooltip="https://www.downtoearth.org.in/air/how-india-moves-planned-bhubaneswaris-growing-in-an-unplanned-fashion-but-there-is-room-for-improv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75E8C4-8B21-9E89-7DAC-6FBE82F8924F}"/>
              </a:ext>
            </a:extLst>
          </p:cNvPr>
          <p:cNvSpPr txBox="1"/>
          <p:nvPr/>
        </p:nvSpPr>
        <p:spPr>
          <a:xfrm>
            <a:off x="14706600" y="7535458"/>
            <a:ext cx="335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AKSHAT KUMAR ARYA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HIMANSHI BISHNOI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GOYAL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CBC6B5-DB4E-1C4E-DBA0-C35225EF8604}"/>
              </a:ext>
            </a:extLst>
          </p:cNvPr>
          <p:cNvSpPr txBox="1"/>
          <p:nvPr/>
        </p:nvSpPr>
        <p:spPr>
          <a:xfrm>
            <a:off x="11506200" y="7564741"/>
            <a:ext cx="320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SHIVANI SHARMA [TL]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 KUMAR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NARUKA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909</Words>
  <Application>Microsoft Office PowerPoint</Application>
  <PresentationFormat>Custom</PresentationFormat>
  <Paragraphs>226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Arimo Bold</vt:lpstr>
      <vt:lpstr>Arial</vt:lpstr>
      <vt:lpstr>Times New Roman</vt:lpstr>
      <vt:lpstr>Calibri</vt:lpstr>
      <vt:lpstr>Roboto Slab</vt:lpstr>
      <vt:lpstr>Roboto Slab Bold</vt:lpstr>
      <vt:lpstr>Garamond Bold</vt:lpstr>
      <vt:lpstr>Arial Bold</vt:lpstr>
      <vt:lpstr>Arimo</vt:lpstr>
      <vt:lpstr>Times New Roman MT</vt:lpstr>
      <vt:lpstr>Times New Roman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 Sarthi 2.0</dc:title>
  <cp:lastModifiedBy>AKSHAT KUMAR ARYA 2401360005</cp:lastModifiedBy>
  <cp:revision>6</cp:revision>
  <dcterms:created xsi:type="dcterms:W3CDTF">2006-08-16T00:00:00Z</dcterms:created>
  <dcterms:modified xsi:type="dcterms:W3CDTF">2025-09-26T03:53:40Z</dcterms:modified>
  <dc:identifier>DAGyoEZ0FSk</dc:identifier>
</cp:coreProperties>
</file>